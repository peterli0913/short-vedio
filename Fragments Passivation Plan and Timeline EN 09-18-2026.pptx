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  <p:sldMasterId id="2147483660" r:id="rId2"/>
    <p:sldMasterId id="2147483672" r:id="rId3"/>
    <p:sldMasterId id="2147483684" r:id="rId4"/>
    <p:sldMasterId id="2147483695" r:id="rId5"/>
    <p:sldMasterId id="2147483707" r:id="rId6"/>
    <p:sldMasterId id="2147483718" r:id="rId7"/>
    <p:sldMasterId id="2147483729" r:id="rId8"/>
    <p:sldMasterId id="2147483740" r:id="rId9"/>
    <p:sldMasterId id="2147483752" r:id="rId10"/>
    <p:sldMasterId id="2147483763" r:id="rId11"/>
    <p:sldMasterId id="2147483775" r:id="rId12"/>
    <p:sldMasterId id="2147483786" r:id="rId13"/>
    <p:sldMasterId id="2147483798" r:id="rId14"/>
    <p:sldMasterId id="2147483810" r:id="rId15"/>
    <p:sldMasterId id="2147483821" r:id="rId16"/>
    <p:sldMasterId id="2147483832" r:id="rId17"/>
    <p:sldMasterId id="2147483843" r:id="rId18"/>
    <p:sldMasterId id="2147483855" r:id="rId19"/>
    <p:sldMasterId id="2147483867" r:id="rId20"/>
    <p:sldMasterId id="2147483879" r:id="rId21"/>
    <p:sldMasterId id="2147483891" r:id="rId22"/>
    <p:sldMasterId id="2147483903" r:id="rId23"/>
    <p:sldMasterId id="2147483914" r:id="rId24"/>
    <p:sldMasterId id="2147483926" r:id="rId25"/>
  </p:sldMasterIdLst>
  <p:notesMasterIdLst>
    <p:notesMasterId r:id="rId28"/>
  </p:notesMasterIdLst>
  <p:sldIdLst>
    <p:sldId id="716" r:id="rId26"/>
    <p:sldId id="717" r:id="rId27"/>
    <p:sldId id="71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683">
          <p15:clr>
            <a:srgbClr val="A4A3A4"/>
          </p15:clr>
        </p15:guide>
        <p15:guide id="4" pos="3613">
          <p15:clr>
            <a:srgbClr val="A4A3A4"/>
          </p15:clr>
        </p15:guide>
        <p15:guide id="5" pos="4316">
          <p15:clr>
            <a:srgbClr val="A4A3A4"/>
          </p15:clr>
        </p15:guide>
        <p15:guide id="6" pos="5155">
          <p15:clr>
            <a:srgbClr val="A4A3A4"/>
          </p15:clr>
        </p15:guide>
        <p15:guide id="7" pos="5564">
          <p15:clr>
            <a:srgbClr val="A4A3A4"/>
          </p15:clr>
        </p15:guide>
        <p15:guide id="8" pos="6131">
          <p15:clr>
            <a:srgbClr val="A4A3A4"/>
          </p15:clr>
        </p15:guide>
        <p15:guide id="9" pos="674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CE4D6"/>
    <a:srgbClr val="EAEFF7"/>
    <a:srgbClr val="D2DEEF"/>
    <a:srgbClr val="00B050"/>
    <a:srgbClr val="C5E0B4"/>
    <a:srgbClr val="000000"/>
    <a:srgbClr val="CCFFCC"/>
    <a:srgbClr val="CCFF99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26" autoAdjust="0"/>
    <p:restoredTop sz="94713" autoAdjust="0"/>
  </p:normalViewPr>
  <p:slideViewPr>
    <p:cSldViewPr snapToGrid="0">
      <p:cViewPr varScale="1">
        <p:scale>
          <a:sx n="64" d="100"/>
          <a:sy n="64" d="100"/>
        </p:scale>
        <p:origin x="1056" y="52"/>
      </p:cViewPr>
      <p:guideLst>
        <p:guide orient="horz" pos="2160"/>
        <p:guide pos="3840"/>
        <p:guide pos="2683"/>
        <p:guide pos="3613"/>
        <p:guide pos="4316"/>
        <p:guide pos="5155"/>
        <p:guide pos="5564"/>
        <p:guide pos="6131"/>
        <p:guide pos="67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slideMaster" Target="slideMasters/slideMaster18.xml"/><Relationship Id="rId19" Type="http://schemas.openxmlformats.org/officeDocument/2006/relationships/slideMaster" Target="slideMasters/slideMaster19.xml"/><Relationship Id="rId20" Type="http://schemas.openxmlformats.org/officeDocument/2006/relationships/slideMaster" Target="slideMasters/slideMaster20.xml"/><Relationship Id="rId21" Type="http://schemas.openxmlformats.org/officeDocument/2006/relationships/slideMaster" Target="slideMasters/slideMaster21.xml"/><Relationship Id="rId22" Type="http://schemas.openxmlformats.org/officeDocument/2006/relationships/slideMaster" Target="slideMasters/slideMaster22.xml"/><Relationship Id="rId23" Type="http://schemas.openxmlformats.org/officeDocument/2006/relationships/slideMaster" Target="slideMasters/slideMaster23.xml"/><Relationship Id="rId24" Type="http://schemas.openxmlformats.org/officeDocument/2006/relationships/slideMaster" Target="slideMasters/slideMaster24.xml"/><Relationship Id="rId25" Type="http://schemas.openxmlformats.org/officeDocument/2006/relationships/slideMaster" Target="slideMasters/slideMaster25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5EE7A1-3875-437A-B05D-B2863332313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B997C-3976-4E82-889B-21F328EE580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e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jpe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jpe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jpe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jpe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.jpe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jpe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jpeg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.jpeg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.jpeg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jpeg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.jpeg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.jpeg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.jpe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2.png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jpeg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2.png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1.jpeg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2.png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1.jpeg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1.jpeg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2.png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1.jpeg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2.pn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jpeg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t>‹#›</a:t>
            </a:fld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endParaRPr lang="zh-CN" altLang="en-US">
              <a:solidFill>
                <a:prstClr val="white"/>
              </a:solidFill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F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t>‹#›</a:t>
            </a:fld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endParaRPr lang="zh-CN" altLang="en-US">
              <a:solidFill>
                <a:prstClr val="white"/>
              </a:solidFill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F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t>‹#›</a:t>
            </a:fld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endParaRPr lang="zh-CN" altLang="en-US">
              <a:solidFill>
                <a:prstClr val="white"/>
              </a:solidFill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6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6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7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t>‹#›</a:t>
            </a:fld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endParaRPr lang="zh-CN" altLang="en-US">
              <a:solidFill>
                <a:prstClr val="white"/>
              </a:solidFill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t>‹#›</a:t>
            </a:fld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endParaRPr lang="zh-CN" altLang="en-US">
              <a:solidFill>
                <a:prstClr val="white"/>
              </a:solidFill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F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5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5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6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2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6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6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1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2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4" y="6596118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3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2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6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6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1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2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4" y="6596118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t>‹#›</a:t>
            </a:fld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endParaRPr lang="zh-CN" altLang="en-US">
              <a:solidFill>
                <a:prstClr val="white"/>
              </a:solidFill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3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7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7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8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5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5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6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2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6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6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1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2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4" y="6596118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3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7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7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8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2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6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6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1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2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4" y="6596118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3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t>‹#›</a:t>
            </a:fld>
            <a:r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endParaRPr lang="zh-CN" altLang="en-US" dirty="0">
              <a:solidFill>
                <a:prstClr val="white"/>
              </a:solidFill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5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5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6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5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5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6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3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7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7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2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2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3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5" y="6596119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4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8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8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9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2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6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6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1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2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4" y="6596118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3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F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5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5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6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2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6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6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1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2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4" y="6596118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3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3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7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7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2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2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3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5" y="6596119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4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8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8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9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3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7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7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2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2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3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5" y="6596119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4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8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8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9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8.xml"/><Relationship Id="rId6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0.xml"/><Relationship Id="rId8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4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4.xml"/><Relationship Id="rId11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1.xml"/><Relationship Id="rId8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4.xml"/><Relationship Id="rId11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1.xml"/><Relationship Id="rId8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4.xml"/><Relationship Id="rId11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5.xml"/><Relationship Id="rId12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6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5.xml"/><Relationship Id="rId11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2.xml"/><Relationship Id="rId8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16.xml"/><Relationship Id="rId12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7.xml"/><Relationship Id="rId2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2.xml"/><Relationship Id="rId7" Type="http://schemas.openxmlformats.org/officeDocument/2006/relationships/slideLayout" Target="../slideLayouts/slideLayout123.xml"/><Relationship Id="rId8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26.xml"/><Relationship Id="rId11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7.xml"/><Relationship Id="rId2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3.xml"/><Relationship Id="rId8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37.xml"/><Relationship Id="rId12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8.xml"/><Relationship Id="rId2" Type="http://schemas.openxmlformats.org/officeDocument/2006/relationships/slideLayout" Target="../slideLayouts/slideLayout139.xml"/><Relationship Id="rId3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41.xml"/><Relationship Id="rId5" Type="http://schemas.openxmlformats.org/officeDocument/2006/relationships/slideLayout" Target="../slideLayouts/slideLayout142.xml"/><Relationship Id="rId6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44.xml"/><Relationship Id="rId8" Type="http://schemas.openxmlformats.org/officeDocument/2006/relationships/slideLayout" Target="../slideLayouts/slideLayout145.xml"/><Relationship Id="rId9" Type="http://schemas.openxmlformats.org/officeDocument/2006/relationships/slideLayout" Target="../slideLayouts/slideLayout146.xml"/><Relationship Id="rId10" Type="http://schemas.openxmlformats.org/officeDocument/2006/relationships/slideLayout" Target="../slideLayouts/slideLayout147.xml"/><Relationship Id="rId11" Type="http://schemas.openxmlformats.org/officeDocument/2006/relationships/slideLayout" Target="../slideLayouts/slideLayout148.xml"/><Relationship Id="rId12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9.xml"/><Relationship Id="rId2" Type="http://schemas.openxmlformats.org/officeDocument/2006/relationships/slideLayout" Target="../slideLayouts/slideLayout150.xml"/><Relationship Id="rId3" Type="http://schemas.openxmlformats.org/officeDocument/2006/relationships/slideLayout" Target="../slideLayouts/slideLayout151.xml"/><Relationship Id="rId4" Type="http://schemas.openxmlformats.org/officeDocument/2006/relationships/slideLayout" Target="../slideLayouts/slideLayout152.xml"/><Relationship Id="rId5" Type="http://schemas.openxmlformats.org/officeDocument/2006/relationships/slideLayout" Target="../slideLayouts/slideLayout153.xml"/><Relationship Id="rId6" Type="http://schemas.openxmlformats.org/officeDocument/2006/relationships/slideLayout" Target="../slideLayouts/slideLayout154.xml"/><Relationship Id="rId7" Type="http://schemas.openxmlformats.org/officeDocument/2006/relationships/slideLayout" Target="../slideLayouts/slideLayout155.xml"/><Relationship Id="rId8" Type="http://schemas.openxmlformats.org/officeDocument/2006/relationships/slideLayout" Target="../slideLayouts/slideLayout156.xml"/><Relationship Id="rId9" Type="http://schemas.openxmlformats.org/officeDocument/2006/relationships/slideLayout" Target="../slideLayouts/slideLayout157.xml"/><Relationship Id="rId10" Type="http://schemas.openxmlformats.org/officeDocument/2006/relationships/slideLayout" Target="../slideLayouts/slideLayout158.xml"/><Relationship Id="rId11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9.xml"/><Relationship Id="rId2" Type="http://schemas.openxmlformats.org/officeDocument/2006/relationships/slideLayout" Target="../slideLayouts/slideLayout160.xml"/><Relationship Id="rId3" Type="http://schemas.openxmlformats.org/officeDocument/2006/relationships/slideLayout" Target="../slideLayouts/slideLayout161.xml"/><Relationship Id="rId4" Type="http://schemas.openxmlformats.org/officeDocument/2006/relationships/slideLayout" Target="../slideLayouts/slideLayout162.xml"/><Relationship Id="rId5" Type="http://schemas.openxmlformats.org/officeDocument/2006/relationships/slideLayout" Target="../slideLayouts/slideLayout163.xml"/><Relationship Id="rId6" Type="http://schemas.openxmlformats.org/officeDocument/2006/relationships/slideLayout" Target="../slideLayouts/slideLayout164.xml"/><Relationship Id="rId7" Type="http://schemas.openxmlformats.org/officeDocument/2006/relationships/slideLayout" Target="../slideLayouts/slideLayout165.xml"/><Relationship Id="rId8" Type="http://schemas.openxmlformats.org/officeDocument/2006/relationships/slideLayout" Target="../slideLayouts/slideLayout166.xml"/><Relationship Id="rId9" Type="http://schemas.openxmlformats.org/officeDocument/2006/relationships/slideLayout" Target="../slideLayouts/slideLayout167.xml"/><Relationship Id="rId10" Type="http://schemas.openxmlformats.org/officeDocument/2006/relationships/slideLayout" Target="../slideLayouts/slideLayout168.xml"/><Relationship Id="rId11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9.xml"/><Relationship Id="rId2" Type="http://schemas.openxmlformats.org/officeDocument/2006/relationships/slideLayout" Target="../slideLayouts/slideLayout170.xml"/><Relationship Id="rId3" Type="http://schemas.openxmlformats.org/officeDocument/2006/relationships/slideLayout" Target="../slideLayouts/slideLayout171.xml"/><Relationship Id="rId4" Type="http://schemas.openxmlformats.org/officeDocument/2006/relationships/slideLayout" Target="../slideLayouts/slideLayout172.xml"/><Relationship Id="rId5" Type="http://schemas.openxmlformats.org/officeDocument/2006/relationships/slideLayout" Target="../slideLayouts/slideLayout173.xml"/><Relationship Id="rId6" Type="http://schemas.openxmlformats.org/officeDocument/2006/relationships/slideLayout" Target="../slideLayouts/slideLayout174.xml"/><Relationship Id="rId7" Type="http://schemas.openxmlformats.org/officeDocument/2006/relationships/slideLayout" Target="../slideLayouts/slideLayout175.xml"/><Relationship Id="rId8" Type="http://schemas.openxmlformats.org/officeDocument/2006/relationships/slideLayout" Target="../slideLayouts/slideLayout176.xml"/><Relationship Id="rId9" Type="http://schemas.openxmlformats.org/officeDocument/2006/relationships/slideLayout" Target="../slideLayouts/slideLayout177.xml"/><Relationship Id="rId10" Type="http://schemas.openxmlformats.org/officeDocument/2006/relationships/slideLayout" Target="../slideLayouts/slideLayout178.xml"/><Relationship Id="rId11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0.xml"/><Relationship Id="rId2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96.xml"/><Relationship Id="rId8" Type="http://schemas.openxmlformats.org/officeDocument/2006/relationships/slideLayout" Target="../slideLayouts/slideLayout197.xml"/><Relationship Id="rId9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199.xml"/><Relationship Id="rId11" Type="http://schemas.openxmlformats.org/officeDocument/2006/relationships/slideLayout" Target="../slideLayouts/slideLayout200.xml"/><Relationship Id="rId12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1.xml"/><Relationship Id="rId2" Type="http://schemas.openxmlformats.org/officeDocument/2006/relationships/slideLayout" Target="../slideLayouts/slideLayout202.xml"/><Relationship Id="rId3" Type="http://schemas.openxmlformats.org/officeDocument/2006/relationships/slideLayout" Target="../slideLayouts/slideLayout203.xml"/><Relationship Id="rId4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06.xml"/><Relationship Id="rId7" Type="http://schemas.openxmlformats.org/officeDocument/2006/relationships/slideLayout" Target="../slideLayouts/slideLayout207.xml"/><Relationship Id="rId8" Type="http://schemas.openxmlformats.org/officeDocument/2006/relationships/slideLayout" Target="../slideLayouts/slideLayout208.xml"/><Relationship Id="rId9" Type="http://schemas.openxmlformats.org/officeDocument/2006/relationships/slideLayout" Target="../slideLayouts/slideLayout209.xml"/><Relationship Id="rId10" Type="http://schemas.openxmlformats.org/officeDocument/2006/relationships/slideLayout" Target="../slideLayouts/slideLayout210.xml"/><Relationship Id="rId11" Type="http://schemas.openxmlformats.org/officeDocument/2006/relationships/slideLayout" Target="../slideLayouts/slideLayout211.xml"/><Relationship Id="rId12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2.xml"/><Relationship Id="rId2" Type="http://schemas.openxmlformats.org/officeDocument/2006/relationships/slideLayout" Target="../slideLayouts/slideLayout213.xml"/><Relationship Id="rId3" Type="http://schemas.openxmlformats.org/officeDocument/2006/relationships/slideLayout" Target="../slideLayouts/slideLayout214.xml"/><Relationship Id="rId4" Type="http://schemas.openxmlformats.org/officeDocument/2006/relationships/slideLayout" Target="../slideLayouts/slideLayout215.xml"/><Relationship Id="rId5" Type="http://schemas.openxmlformats.org/officeDocument/2006/relationships/slideLayout" Target="../slideLayouts/slideLayout216.xml"/><Relationship Id="rId6" Type="http://schemas.openxmlformats.org/officeDocument/2006/relationships/slideLayout" Target="../slideLayouts/slideLayout217.xml"/><Relationship Id="rId7" Type="http://schemas.openxmlformats.org/officeDocument/2006/relationships/slideLayout" Target="../slideLayouts/slideLayout218.xml"/><Relationship Id="rId8" Type="http://schemas.openxmlformats.org/officeDocument/2006/relationships/slideLayout" Target="../slideLayouts/slideLayout219.xml"/><Relationship Id="rId9" Type="http://schemas.openxmlformats.org/officeDocument/2006/relationships/slideLayout" Target="../slideLayouts/slideLayout220.xml"/><Relationship Id="rId10" Type="http://schemas.openxmlformats.org/officeDocument/2006/relationships/slideLayout" Target="../slideLayouts/slideLayout221.xml"/><Relationship Id="rId11" Type="http://schemas.openxmlformats.org/officeDocument/2006/relationships/slideLayout" Target="../slideLayouts/slideLayout222.xml"/><Relationship Id="rId12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3.xml"/><Relationship Id="rId2" Type="http://schemas.openxmlformats.org/officeDocument/2006/relationships/slideLayout" Target="../slideLayouts/slideLayout224.xml"/><Relationship Id="rId3" Type="http://schemas.openxmlformats.org/officeDocument/2006/relationships/slideLayout" Target="../slideLayouts/slideLayout225.xml"/><Relationship Id="rId4" Type="http://schemas.openxmlformats.org/officeDocument/2006/relationships/slideLayout" Target="../slideLayouts/slideLayout226.xml"/><Relationship Id="rId5" Type="http://schemas.openxmlformats.org/officeDocument/2006/relationships/slideLayout" Target="../slideLayouts/slideLayout227.xml"/><Relationship Id="rId6" Type="http://schemas.openxmlformats.org/officeDocument/2006/relationships/slideLayout" Target="../slideLayouts/slideLayout228.xml"/><Relationship Id="rId7" Type="http://schemas.openxmlformats.org/officeDocument/2006/relationships/slideLayout" Target="../slideLayouts/slideLayout229.xml"/><Relationship Id="rId8" Type="http://schemas.openxmlformats.org/officeDocument/2006/relationships/slideLayout" Target="../slideLayouts/slideLayout230.xml"/><Relationship Id="rId9" Type="http://schemas.openxmlformats.org/officeDocument/2006/relationships/slideLayout" Target="../slideLayouts/slideLayout231.xml"/><Relationship Id="rId10" Type="http://schemas.openxmlformats.org/officeDocument/2006/relationships/slideLayout" Target="../slideLayouts/slideLayout232.xml"/><Relationship Id="rId11" Type="http://schemas.openxmlformats.org/officeDocument/2006/relationships/slideLayout" Target="../slideLayouts/slideLayout233.xml"/><Relationship Id="rId12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4.xml"/><Relationship Id="rId2" Type="http://schemas.openxmlformats.org/officeDocument/2006/relationships/slideLayout" Target="../slideLayouts/slideLayout235.xml"/><Relationship Id="rId3" Type="http://schemas.openxmlformats.org/officeDocument/2006/relationships/slideLayout" Target="../slideLayouts/slideLayout236.xml"/><Relationship Id="rId4" Type="http://schemas.openxmlformats.org/officeDocument/2006/relationships/slideLayout" Target="../slideLayouts/slideLayout237.xml"/><Relationship Id="rId5" Type="http://schemas.openxmlformats.org/officeDocument/2006/relationships/slideLayout" Target="../slideLayouts/slideLayout238.xml"/><Relationship Id="rId6" Type="http://schemas.openxmlformats.org/officeDocument/2006/relationships/slideLayout" Target="../slideLayouts/slideLayout239.xml"/><Relationship Id="rId7" Type="http://schemas.openxmlformats.org/officeDocument/2006/relationships/slideLayout" Target="../slideLayouts/slideLayout240.xml"/><Relationship Id="rId8" Type="http://schemas.openxmlformats.org/officeDocument/2006/relationships/slideLayout" Target="../slideLayouts/slideLayout241.xml"/><Relationship Id="rId9" Type="http://schemas.openxmlformats.org/officeDocument/2006/relationships/slideLayout" Target="../slideLayouts/slideLayout242.xml"/><Relationship Id="rId10" Type="http://schemas.openxmlformats.org/officeDocument/2006/relationships/slideLayout" Target="../slideLayouts/slideLayout243.xml"/><Relationship Id="rId11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4.xml"/><Relationship Id="rId2" Type="http://schemas.openxmlformats.org/officeDocument/2006/relationships/slideLayout" Target="../slideLayouts/slideLayout245.xml"/><Relationship Id="rId3" Type="http://schemas.openxmlformats.org/officeDocument/2006/relationships/slideLayout" Target="../slideLayouts/slideLayout246.xml"/><Relationship Id="rId4" Type="http://schemas.openxmlformats.org/officeDocument/2006/relationships/slideLayout" Target="../slideLayouts/slideLayout247.xml"/><Relationship Id="rId5" Type="http://schemas.openxmlformats.org/officeDocument/2006/relationships/slideLayout" Target="../slideLayouts/slideLayout248.xml"/><Relationship Id="rId6" Type="http://schemas.openxmlformats.org/officeDocument/2006/relationships/slideLayout" Target="../slideLayouts/slideLayout249.xml"/><Relationship Id="rId7" Type="http://schemas.openxmlformats.org/officeDocument/2006/relationships/slideLayout" Target="../slideLayouts/slideLayout250.xml"/><Relationship Id="rId8" Type="http://schemas.openxmlformats.org/officeDocument/2006/relationships/slideLayout" Target="../slideLayouts/slideLayout251.xml"/><Relationship Id="rId9" Type="http://schemas.openxmlformats.org/officeDocument/2006/relationships/slideLayout" Target="../slideLayouts/slideLayout252.xml"/><Relationship Id="rId10" Type="http://schemas.openxmlformats.org/officeDocument/2006/relationships/slideLayout" Target="../slideLayouts/slideLayout253.xml"/><Relationship Id="rId11" Type="http://schemas.openxmlformats.org/officeDocument/2006/relationships/slideLayout" Target="../slideLayouts/slideLayout254.xml"/><Relationship Id="rId12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5.xml"/><Relationship Id="rId2" Type="http://schemas.openxmlformats.org/officeDocument/2006/relationships/slideLayout" Target="../slideLayouts/slideLayout256.xml"/><Relationship Id="rId3" Type="http://schemas.openxmlformats.org/officeDocument/2006/relationships/slideLayout" Target="../slideLayouts/slideLayout257.xml"/><Relationship Id="rId4" Type="http://schemas.openxmlformats.org/officeDocument/2006/relationships/slideLayout" Target="../slideLayouts/slideLayout258.xml"/><Relationship Id="rId5" Type="http://schemas.openxmlformats.org/officeDocument/2006/relationships/slideLayout" Target="../slideLayouts/slideLayout259.xml"/><Relationship Id="rId6" Type="http://schemas.openxmlformats.org/officeDocument/2006/relationships/slideLayout" Target="../slideLayouts/slideLayout260.xml"/><Relationship Id="rId7" Type="http://schemas.openxmlformats.org/officeDocument/2006/relationships/slideLayout" Target="../slideLayouts/slideLayout261.xml"/><Relationship Id="rId8" Type="http://schemas.openxmlformats.org/officeDocument/2006/relationships/slideLayout" Target="../slideLayouts/slideLayout262.xml"/><Relationship Id="rId9" Type="http://schemas.openxmlformats.org/officeDocument/2006/relationships/slideLayout" Target="../slideLayouts/slideLayout263.xml"/><Relationship Id="rId10" Type="http://schemas.openxmlformats.org/officeDocument/2006/relationships/slideLayout" Target="../slideLayouts/slideLayout264.xml"/><Relationship Id="rId11" Type="http://schemas.openxmlformats.org/officeDocument/2006/relationships/slideLayout" Target="../slideLayouts/slideLayout265.xml"/><Relationship Id="rId12" Type="http://schemas.openxmlformats.org/officeDocument/2006/relationships/theme" Target="../theme/theme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  <p:sldLayoutId id="2147483928" r:id="rId2"/>
    <p:sldLayoutId id="2147483929" r:id="rId3"/>
    <p:sldLayoutId id="2147483930" r:id="rId4"/>
    <p:sldLayoutId id="2147483931" r:id="rId5"/>
    <p:sldLayoutId id="2147483932" r:id="rId6"/>
    <p:sldLayoutId id="2147483933" r:id="rId7"/>
    <p:sldLayoutId id="2147483934" r:id="rId8"/>
    <p:sldLayoutId id="2147483935" r:id="rId9"/>
    <p:sldLayoutId id="2147483936" r:id="rId10"/>
    <p:sldLayoutId id="2147483937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-</a:t>
            </a:r>
            <a:fld id="{FAEDECE0-B3E3-4E93-9B91-9F10B30F5B07}" type="slidenum">
              <a:rPr lang="en-US" altLang="zh-CN" smtClean="0"/>
              <a:t>1</a:t>
            </a:fld>
            <a:r>
              <a:rPr lang="en-US" altLang="zh-CN" smtClean="0"/>
              <a:t>-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343934" y="505934"/>
            <a:ext cx="4656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2060"/>
                </a:solidFill>
              </a:rPr>
              <a:t>Passivation </a:t>
            </a:r>
            <a:r>
              <a:rPr lang="en-US" altLang="zh-CN" b="1" dirty="0" smtClean="0">
                <a:solidFill>
                  <a:srgbClr val="002060"/>
                </a:solidFill>
              </a:rPr>
              <a:t>Timeline for Equipment train</a:t>
            </a:r>
            <a:endParaRPr lang="zh-CN" altLang="en-US" b="1" dirty="0">
              <a:solidFill>
                <a:srgbClr val="002060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027589"/>
              </p:ext>
            </p:extLst>
          </p:nvPr>
        </p:nvGraphicFramePr>
        <p:xfrm>
          <a:off x="657682" y="1379481"/>
          <a:ext cx="10700590" cy="3679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768">
                  <a:extLst>
                    <a:ext uri="{9D8B030D-6E8A-4147-A177-3AD203B41FA5}">
                      <a16:colId xmlns:a16="http://schemas.microsoft.com/office/drawing/2014/main" val="702991439"/>
                    </a:ext>
                  </a:extLst>
                </a:gridCol>
                <a:gridCol w="1095829">
                  <a:extLst>
                    <a:ext uri="{9D8B030D-6E8A-4147-A177-3AD203B41FA5}">
                      <a16:colId xmlns:a16="http://schemas.microsoft.com/office/drawing/2014/main" val="970268549"/>
                    </a:ext>
                  </a:extLst>
                </a:gridCol>
                <a:gridCol w="2520034">
                  <a:extLst>
                    <a:ext uri="{9D8B030D-6E8A-4147-A177-3AD203B41FA5}">
                      <a16:colId xmlns:a16="http://schemas.microsoft.com/office/drawing/2014/main" val="158641279"/>
                    </a:ext>
                  </a:extLst>
                </a:gridCol>
                <a:gridCol w="2568620">
                  <a:extLst>
                    <a:ext uri="{9D8B030D-6E8A-4147-A177-3AD203B41FA5}">
                      <a16:colId xmlns:a16="http://schemas.microsoft.com/office/drawing/2014/main" val="2381673757"/>
                    </a:ext>
                  </a:extLst>
                </a:gridCol>
                <a:gridCol w="2321339">
                  <a:extLst>
                    <a:ext uri="{9D8B030D-6E8A-4147-A177-3AD203B41FA5}">
                      <a16:colId xmlns:a16="http://schemas.microsoft.com/office/drawing/2014/main" val="1256024133"/>
                    </a:ext>
                  </a:extLst>
                </a:gridCol>
              </a:tblGrid>
              <a:tr h="438318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Step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Passivation Completion</a:t>
                      </a:r>
                      <a:r>
                        <a:rPr lang="en-US" altLang="zh-CN" sz="1400" baseline="0" dirty="0" smtClean="0"/>
                        <a:t> Date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Solvent Run</a:t>
                      </a:r>
                      <a:r>
                        <a:rPr lang="zh-CN" altLang="en-US" sz="1400" baseline="0" dirty="0" smtClean="0"/>
                        <a:t> </a:t>
                      </a:r>
                      <a:r>
                        <a:rPr lang="en-US" altLang="zh-CN" sz="1400" baseline="0" dirty="0" smtClean="0"/>
                        <a:t>Completion Date</a:t>
                      </a:r>
                      <a:endParaRPr lang="en-US" altLang="zh-CN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Equipment </a:t>
                      </a:r>
                      <a:r>
                        <a:rPr lang="en-US" altLang="zh-CN" sz="1400" dirty="0" smtClean="0"/>
                        <a:t>Ready </a:t>
                      </a:r>
                      <a:r>
                        <a:rPr lang="en-US" altLang="zh-CN" sz="1400" dirty="0" smtClean="0"/>
                        <a:t>Date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0427453"/>
                  </a:ext>
                </a:extLst>
              </a:tr>
              <a:tr h="267778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L1</a:t>
                      </a:r>
                    </a:p>
                    <a:p>
                      <a:pPr algn="ctr"/>
                      <a:r>
                        <a:rPr lang="en-US" altLang="zh-CN" sz="1400" dirty="0" smtClean="0"/>
                        <a:t>140019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09/22/2026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09/24/2026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09/25/2026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151419"/>
                  </a:ext>
                </a:extLst>
              </a:tr>
              <a:tr h="267778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09/30/2026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10/05/2026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10/08/2026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3591690"/>
                  </a:ext>
                </a:extLst>
              </a:tr>
              <a:tr h="267778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L2</a:t>
                      </a:r>
                    </a:p>
                    <a:p>
                      <a:pPr algn="ctr"/>
                      <a:r>
                        <a:rPr lang="en-US" altLang="zh-CN" sz="1400" dirty="0" smtClean="0"/>
                        <a:t>140020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09/20/2026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09/22/2026</a:t>
                      </a:r>
                      <a:endParaRPr lang="zh-CN" altLang="en-US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09/23/2026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6714660"/>
                  </a:ext>
                </a:extLst>
              </a:tr>
              <a:tr h="267778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09/30/2026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10/05/2026</a:t>
                      </a:r>
                      <a:endParaRPr lang="zh-CN" altLang="en-US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10/08/2026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6048573"/>
                  </a:ext>
                </a:extLst>
              </a:tr>
              <a:tr h="267778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L3</a:t>
                      </a:r>
                    </a:p>
                    <a:p>
                      <a:pPr algn="ctr"/>
                      <a:r>
                        <a:rPr lang="en-US" altLang="zh-CN" sz="1400" dirty="0" smtClean="0"/>
                        <a:t>140021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09/19/2026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09/21/2026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09/22/2026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1835233"/>
                  </a:ext>
                </a:extLst>
              </a:tr>
              <a:tr h="267778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09/30/2026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10/05/2026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10/08/2026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6550790"/>
                  </a:ext>
                </a:extLst>
              </a:tr>
              <a:tr h="267778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09/30/2026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10/05/2026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10/10/2026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9682449"/>
                  </a:ext>
                </a:extLst>
              </a:tr>
              <a:tr h="267778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GG917</a:t>
                      </a:r>
                    </a:p>
                    <a:p>
                      <a:pPr algn="ctr"/>
                      <a:r>
                        <a:rPr lang="en-US" altLang="zh-CN" sz="1400" dirty="0" smtClean="0"/>
                        <a:t>139788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09/21/2026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09/24/2026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smtClean="0"/>
                        <a:t>09/26/2026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6738695"/>
                  </a:ext>
                </a:extLst>
              </a:tr>
              <a:tr h="418174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09/30/2026</a:t>
                      </a:r>
                      <a:endParaRPr lang="zh-CN" altLang="en-US" sz="14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is expected to be completed in mid-October.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996541"/>
                  </a:ext>
                </a:extLst>
              </a:tr>
              <a:tr h="267778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All equipment has been passivated.</a:t>
                      </a:r>
                      <a:endParaRPr kumimoji="0" lang="zh-CN" altLang="en-US" sz="1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4654858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57682" y="5230128"/>
            <a:ext cx="1070059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 smtClean="0"/>
              <a:t>Passivation </a:t>
            </a:r>
            <a:r>
              <a:rPr lang="en-US" altLang="zh-CN" sz="1600" dirty="0"/>
              <a:t>of the main body of the Synthesizer, Cleavage Reactor, Stainless </a:t>
            </a:r>
            <a:r>
              <a:rPr lang="en-US" altLang="zh-CN" sz="1600" dirty="0" smtClean="0"/>
              <a:t>steel Reactor and AFD has </a:t>
            </a:r>
            <a:r>
              <a:rPr lang="en-US" altLang="zh-CN" sz="1600" dirty="0"/>
              <a:t>been performed by the equipment manufacturer. </a:t>
            </a:r>
            <a:endParaRPr lang="en-US" altLang="zh-CN" sz="16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 smtClean="0"/>
              <a:t>For others, like tanks, pipeline, passivation will be done, and solvent run will be conducted. Timeline meet the use.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66881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-</a:t>
            </a:r>
            <a:fld id="{FAEDECE0-B3E3-4E93-9B91-9F10B30F5B07}" type="slidenum">
              <a:rPr lang="en-US" altLang="zh-CN" smtClean="0"/>
              <a:t>2</a:t>
            </a:fld>
            <a:r>
              <a:rPr lang="en-US" altLang="zh-CN" smtClean="0"/>
              <a:t>-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757526" y="505934"/>
            <a:ext cx="5220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2060"/>
                </a:solidFill>
              </a:rPr>
              <a:t>Passivation </a:t>
            </a:r>
            <a:r>
              <a:rPr lang="en-US" altLang="zh-CN" b="1" dirty="0" smtClean="0">
                <a:solidFill>
                  <a:srgbClr val="002060"/>
                </a:solidFill>
              </a:rPr>
              <a:t>discussion for Solvent Tank Farm</a:t>
            </a:r>
            <a:endParaRPr lang="zh-CN" altLang="en-US" b="1" dirty="0">
              <a:solidFill>
                <a:srgbClr val="00206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024128"/>
          <a:ext cx="1106424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371600"/>
                <a:gridCol w="868680"/>
                <a:gridCol w="2606040"/>
                <a:gridCol w="822960"/>
                <a:gridCol w="3246120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00" b="0"/>
                        <a:t>Solvent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00" b="0"/>
                        <a:t>Tank farm supply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00" b="0"/>
                        <a:t>Tanks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00" b="0"/>
                        <a:t>Lilly trains / steps supplied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00" b="0"/>
                        <a:t>Need by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00" b="0"/>
                        <a:t>Passivation approach</a:t>
                      </a:r>
                    </a:p>
                  </a:txBody>
                  <a:tcPr anchor="ctr" marL="64008" marR="64008" marT="18288" marB="18288"/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Isopropyl acetate, toluene,</a:t>
                      </a:r>
                    </a:p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n-heptane, ethyl acetate, 2-MeTHF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Lilly dedicated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5 x 30 m³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140019 / 140020 / 140021 / 139788</a:t>
                      </a:r>
                    </a:p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step 1 - step 3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09/25 -</a:t>
                      </a:r>
                    </a:p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10/28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Tanks and transfer lines emptied and passivated directly - no impact on other buildings</a:t>
                      </a:r>
                    </a:p>
                  </a:txBody>
                  <a:tcPr anchor="ctr" marL="64008" marR="64008" marT="18288" marB="18288"/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Acetonitrile (prep grade)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Shared</a:t>
                      </a:r>
                    </a:p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Bldg 11 + Bldg 12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3 x 30 m³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140021 step 1,</a:t>
                      </a:r>
                    </a:p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139788 step 1 + step 3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10/15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Bldg 12 is fed by a dedicated line: 1 x 30 m³ tank emptied and passivated</a:t>
                      </a:r>
                    </a:p>
                  </a:txBody>
                  <a:tcPr anchor="ctr" marL="64008" marR="64008" marT="18288" marB="18288"/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Piperidine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Shared</a:t>
                      </a:r>
                    </a:p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Bldg 11 + Bldg 12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1 x 10 m³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140019 / 140020 / 140021 / 139788</a:t>
                      </a:r>
                    </a:p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step 1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09/25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Single tank still needed by Bldg 11 - not passivated; Lilly runs on drummed solvent</a:t>
                      </a:r>
                    </a:p>
                  </a:txBody>
                  <a:tcPr anchor="ctr" marL="64008" marR="64008" marT="18288" marB="18288"/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MTBE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Shared</a:t>
                      </a:r>
                    </a:p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Bldg 11 + Bldg 12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1 x 30 m³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140019 / 140020 / 140021 / 139788</a:t>
                      </a:r>
                    </a:p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step 1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09/25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Not passivated; drummed solvent until the phase 2 tank farm is connected</a:t>
                      </a:r>
                    </a:p>
                  </a:txBody>
                  <a:tcPr anchor="ctr" marL="64008" marR="64008" marT="18288" marB="18288"/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1"/>
                        <a:t>DMF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1"/>
                        <a:t>Shared</a:t>
                      </a:r>
                    </a:p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Bldg 11 + Bldg 12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1"/>
                        <a:t>3 x 30 m³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1"/>
                        <a:t>140019 / 140020 / 140021 / 139788</a:t>
                      </a:r>
                    </a:p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step 1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1"/>
                        <a:t>09/25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1"/>
                        <a:t>Line modification required first - no tank can be released today</a:t>
                      </a:r>
                    </a:p>
                  </a:txBody>
                  <a:tcPr anchor="ctr" marL="64008" marR="64008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9502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002060"/>
                </a:solidFill>
              </a:rPr>
              <a:t>DMF line modification - TF01 and TF02 both feed Bldg 11 and Bldg 12, so no tank can be released today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4407408"/>
          <a:ext cx="59893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2057400"/>
                <a:gridCol w="3063240"/>
              </a:tblGrid>
              <a:tr h="438912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00" b="0"/>
                        <a:t>DMF tank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00" b="0"/>
                        <a:t>Today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00" b="0"/>
                        <a:t>After modification</a:t>
                      </a:r>
                    </a:p>
                  </a:txBody>
                  <a:tcPr anchor="ctr" marL="64008" marR="64008" marT="18288" marB="18288"/>
                </a:tc>
              </a:tr>
              <a:tr h="438912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TF01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Feeds Bldg 11 and Bldg 12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1"/>
                        <a:t>Bldg 12 only - emptied and passivated</a:t>
                      </a:r>
                    </a:p>
                  </a:txBody>
                  <a:tcPr anchor="ctr" marL="64008" marR="64008" marT="18288" marB="18288"/>
                </a:tc>
              </a:tr>
              <a:tr h="438912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TF04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Backup only, no dedicated line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New line built to Bldg 11: piping 10 d + software change and verification 10 d</a:t>
                      </a:r>
                    </a:p>
                  </a:txBody>
                  <a:tcPr anchor="ctr" marL="64008" marR="64008" marT="18288" marB="18288"/>
                </a:tc>
              </a:tr>
              <a:tr h="438912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TF02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Feeds Bldg 11 and Bldg 12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Unchanged</a:t>
                      </a:r>
                    </a:p>
                  </a:txBody>
                  <a:tcPr anchor="ctr" marL="64008" marR="64008" marT="18288" marB="18288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12280" y="4462272"/>
            <a:ext cx="481888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lnSpc>
                <a:spcPct val="102000"/>
              </a:lnSpc>
              <a:spcAft>
                <a:spcPts val="1100"/>
              </a:spcAft>
              <a:buFont typeface="Wingdings" pitchFamily="2" charset="2"/>
              <a:buChar char="Ø"/>
            </a:pPr>
            <a:r>
              <a:rPr sz="1350" b="1">
                <a:solidFill>
                  <a:srgbClr val="C00000"/>
                </a:solidFill>
              </a:rPr>
              <a:t>Bldg 11 supply has to be cut over during the tie-in: 20 d delay for 139166 / 150168 / 148235.</a:t>
            </a:r>
          </a:p>
          <a:p>
            <a:pPr marL="285750" indent="-285750">
              <a:lnSpc>
                <a:spcPct val="102000"/>
              </a:lnSpc>
              <a:spcAft>
                <a:spcPts val="1100"/>
              </a:spcAft>
              <a:buFont typeface="Wingdings" pitchFamily="2" charset="2"/>
              <a:buChar char="Ø"/>
            </a:pPr>
            <a:r>
              <a:rPr sz="1350" b="0">
                <a:solidFill>
                  <a:srgbClr val="404040"/>
                </a:solidFill>
              </a:rPr>
              <a:t>After the change the Lilly synthesizers are fed from one DMF tank with no backup - high consumption requires continuous replenishment.</a:t>
            </a:r>
          </a:p>
          <a:p>
            <a:pPr marL="285750" indent="-285750">
              <a:lnSpc>
                <a:spcPct val="102000"/>
              </a:lnSpc>
              <a:spcAft>
                <a:spcPts val="1100"/>
              </a:spcAft>
              <a:buFont typeface="Wingdings" pitchFamily="2" charset="2"/>
              <a:buChar char="Ø"/>
            </a:pPr>
            <a:r>
              <a:rPr sz="1350" b="0">
                <a:solidFill>
                  <a:srgbClr val="404040"/>
                </a:solidFill>
              </a:rPr>
              <a:t>Piperidine and MTBE stay on 200 L drums for Bldg 12 until the phase 2 tank farm starts up.</a:t>
            </a:r>
          </a:p>
        </p:txBody>
      </p:sp>
    </p:spTree>
    <p:extLst>
      <p:ext uri="{BB962C8B-B14F-4D97-AF65-F5344CB8AC3E}">
        <p14:creationId xmlns:p14="http://schemas.microsoft.com/office/powerpoint/2010/main" val="1292885589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0056" y="502920"/>
            <a:ext cx="6949440" cy="36576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/>
            <a:r>
              <a:rPr sz="1800" b="1">
                <a:solidFill>
                  <a:srgbClr val="002060"/>
                </a:solidFill>
              </a:rPr>
              <a:t>Passivation Sequence, Duration and Project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02060"/>
                </a:solidFill>
              </a:rPr>
              <a:t>Passivation sequence - 75 days per batch of tanks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34440"/>
          <a:ext cx="4983479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749039"/>
                <a:gridCol w="777240"/>
              </a:tblGrid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00" b="0"/>
                        <a:t>#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00" b="0"/>
                        <a:t>Activity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00" b="0"/>
                        <a:t>Days</a:t>
                      </a:r>
                    </a:p>
                  </a:txBody>
                  <a:tcPr anchor="ctr" marL="64008" marR="64008" marT="18288" marB="18288"/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1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Emptying of storage tank contents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2</a:t>
                      </a:r>
                    </a:p>
                  </a:txBody>
                  <a:tcPr anchor="ctr" marL="64008" marR="64008" marT="18288" marB="18288"/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2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Tank pretreatment: water wash, flammable gas check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4</a:t>
                      </a:r>
                    </a:p>
                  </a:txBody>
                  <a:tcPr anchor="ctr" marL="64008" marR="64008" marT="18288" marB="18288"/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3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Liquid alkali charge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2</a:t>
                      </a:r>
                    </a:p>
                  </a:txBody>
                  <a:tcPr anchor="ctr" marL="64008" marR="64008" marT="18288" marB="18288"/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4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Rinse until pH neutral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10</a:t>
                      </a:r>
                    </a:p>
                  </a:txBody>
                  <a:tcPr anchor="ctr" marL="64008" marR="64008" marT="18288" marB="18288"/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5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Storage tank passivation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7</a:t>
                      </a:r>
                    </a:p>
                  </a:txBody>
                  <a:tcPr anchor="ctr" marL="64008" marR="64008" marT="18288" marB="18288"/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6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Inlet / outlet pipeline passivation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3</a:t>
                      </a:r>
                    </a:p>
                  </a:txBody>
                  <a:tcPr anchor="ctr" marL="64008" marR="64008" marT="18288" marB="18288"/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7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Draining of passivation medium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2</a:t>
                      </a:r>
                    </a:p>
                  </a:txBody>
                  <a:tcPr anchor="ctr" marL="64008" marR="64008" marT="18288" marB="18288"/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8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Pipeline inspection (NDT)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3</a:t>
                      </a:r>
                    </a:p>
                  </a:txBody>
                  <a:tcPr anchor="ctr" marL="64008" marR="64008" marT="18288" marB="18288"/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9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Rinse with tap water until pH neutral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10</a:t>
                      </a:r>
                    </a:p>
                  </a:txBody>
                  <a:tcPr anchor="ctr" marL="64008" marR="64008" marT="18288" marB="18288"/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10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Cleanliness confirmation of the tank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2</a:t>
                      </a:r>
                    </a:p>
                  </a:txBody>
                  <a:tcPr anchor="ctr" marL="64008" marR="64008" marT="18288" marB="18288"/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11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Solvent water content determination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30</a:t>
                      </a:r>
                    </a:p>
                  </a:txBody>
                  <a:tcPr anchor="ctr" marL="64008" marR="64008" marT="18288" marB="18288"/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/>
                        <a:t/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/>
                        <a:t>Total per batch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/>
                        <a:t>75</a:t>
                      </a:r>
                    </a:p>
                  </a:txBody>
                  <a:tcPr anchor="ctr" marL="64008" marR="64008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59028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02060"/>
                </a:solidFill>
              </a:rPr>
              <a:t>Impact on projects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4892040"/>
          <a:ext cx="498348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2971800"/>
                <a:gridCol w="1325880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Building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Projects affected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Impact</a:t>
                      </a:r>
                    </a:p>
                  </a:txBody>
                  <a:tcPr anchor="ctr" marL="64008" marR="64008" marT="18288" marB="18288"/>
                </a:tc>
              </a:tr>
              <a:tr h="310896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/>
                        <a:t>Bldg 11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/>
                        <a:t>139166 (Roche), 150168, 148235 (Pfizer) - step 1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/>
                        <a:t>Start delayed 20 d</a:t>
                      </a:r>
                    </a:p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/>
                        <a:t>DMF line tie-in</a:t>
                      </a:r>
                    </a:p>
                  </a:txBody>
                  <a:tcPr anchor="ctr" marL="64008" marR="64008" marT="18288" marB="18288"/>
                </a:tc>
              </a:tr>
              <a:tr h="310896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/>
                        <a:t>Bldg 12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/>
                        <a:t>140019 / 140020 / 140021 / 139788 PPQ step 1; 139788 full scale demo step 3;</a:t>
                      </a:r>
                    </a:p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/>
                        <a:t>149744 (AbbVie), 136877 (Lilly) step 1C, 142316 (Vertex) step 1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/>
                        <a:t>Start delayed 75 d</a:t>
                      </a:r>
                    </a:p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/>
                        <a:t>tank farm out of service</a:t>
                      </a:r>
                    </a:p>
                  </a:txBody>
                  <a:tcPr anchor="ctr" marL="64008" marR="64008" marT="18288" marB="18288"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806440" y="932688"/>
            <a:ext cx="5824728" cy="54864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</a:rPr>
              <a:t>7 tanks passivated in 2 batches - 75 days per batch, last batch released around day 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73736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02060"/>
                </a:solidFill>
              </a:rPr>
              <a:t>Batch 1 - 2 tanks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700784"/>
            <a:ext cx="3311203" cy="274320"/>
          </a:xfrm>
          <a:prstGeom prst="roundRect">
            <a:avLst>
              <a:gd name="adj" fmla="val 25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Day 1 - 76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2157984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02060"/>
                </a:solidFill>
              </a:rPr>
              <a:t>Batch 2 - 5 tanks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05933" y="2121408"/>
            <a:ext cx="3224066" cy="274320"/>
          </a:xfrm>
          <a:prstGeom prst="roundRect">
            <a:avLst>
              <a:gd name="adj" fmla="val 25000"/>
            </a:avLst>
          </a:prstGeom>
          <a:solidFill>
            <a:srgbClr val="2E6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Day 12 - 85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2560320"/>
            <a:ext cx="3703320" cy="10972"/>
          </a:xfrm>
          <a:prstGeom prst="rect">
            <a:avLst/>
          </a:prstGeom>
          <a:solidFill>
            <a:srgbClr val="D3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596896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04040"/>
                </a:solidFill>
              </a:rPr>
              <a:t>Day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2596896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04040"/>
                </a:solidFill>
              </a:rPr>
              <a:t>Day 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889504"/>
            <a:ext cx="58247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404040"/>
                </a:solidFill>
              </a:rPr>
              <a:t>Nitric acid available on site is not sufficient for all seven tanks; a new purchase is required, so the tanks are passivated in two batches.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346704"/>
            <a:ext cx="5824728" cy="2999232"/>
          </a:xfrm>
          <a:prstGeom prst="roundRect">
            <a:avLst>
              <a:gd name="adj" fmla="val 3500"/>
            </a:avLst>
          </a:prstGeom>
          <a:solidFill>
            <a:srgbClr val="F4F8FC"/>
          </a:solidFill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16752" y="349300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02060"/>
                </a:solidFill>
              </a:rPr>
              <a:t>Why the cycle is long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6752" y="3803904"/>
            <a:ext cx="53949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lnSpc>
                <a:spcPct val="98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sz="1150" b="0">
                <a:solidFill>
                  <a:srgbClr val="404040"/>
                </a:solidFill>
              </a:rPr>
              <a:t>Tanks have no spray balls: operators must enter the tank and spray the passivation solution until the test passes; pipelines are passivated by soaking.</a:t>
            </a:r>
          </a:p>
          <a:p>
            <a:pPr marL="285750" indent="-285750">
              <a:lnSpc>
                <a:spcPct val="98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sz="1150" b="0">
                <a:solidFill>
                  <a:srgbClr val="404040"/>
                </a:solidFill>
              </a:rPr>
              <a:t>The caustic wash removes residual oil from the piping, and each rinse back to neutral pH takes 10 days.</a:t>
            </a:r>
          </a:p>
          <a:p>
            <a:pPr marL="285750" indent="-285750">
              <a:lnSpc>
                <a:spcPct val="98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sz="1150" b="1">
                <a:solidFill>
                  <a:srgbClr val="C00000"/>
                </a:solidFill>
              </a:rPr>
              <a:t>Solvent water content determination is the critical path at 30 days - low points in the welded lines hold water and the ≤ 0.1 % w/w spec is hard to reach, a high risk for the CTC resin in step 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6752" y="5248656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02060"/>
                </a:solidFill>
              </a:rPr>
              <a:t>Operational impact during passivation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6752" y="5541264"/>
            <a:ext cx="5394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lnSpc>
                <a:spcPct val="98000"/>
              </a:lnSpc>
              <a:spcAft>
                <a:spcPts val="400"/>
              </a:spcAft>
              <a:buFont typeface="Wingdings" pitchFamily="2" charset="2"/>
              <a:buChar char="Ø"/>
            </a:pPr>
            <a:r>
              <a:rPr sz="1050" b="0">
                <a:solidFill>
                  <a:srgbClr val="404040"/>
                </a:solidFill>
              </a:rPr>
              <a:t>Bldg 12 has no tank farm supply - all solvents move to 200 L drums; drum handling safety is the key control.</a:t>
            </a:r>
          </a:p>
          <a:p>
            <a:pPr marL="285750" indent="-285750">
              <a:lnSpc>
                <a:spcPct val="98000"/>
              </a:lnSpc>
              <a:spcAft>
                <a:spcPts val="400"/>
              </a:spcAft>
              <a:buFont typeface="Wingdings" pitchFamily="2" charset="2"/>
              <a:buChar char="Ø"/>
            </a:pPr>
            <a:r>
              <a:rPr sz="1050" b="0">
                <a:solidFill>
                  <a:srgbClr val="404040"/>
                </a:solidFill>
              </a:rPr>
              <a:t>DMF and deprotection solutions are made up manually: lower throughput.</a:t>
            </a:r>
          </a:p>
          <a:p>
            <a:pPr marL="285750" indent="-285750">
              <a:lnSpc>
                <a:spcPct val="98000"/>
              </a:lnSpc>
              <a:spcAft>
                <a:spcPts val="400"/>
              </a:spcAft>
              <a:buFont typeface="Wingdings" pitchFamily="2" charset="2"/>
              <a:buChar char="Ø"/>
            </a:pPr>
            <a:r>
              <a:rPr sz="1050" b="0">
                <a:solidFill>
                  <a:srgbClr val="404040"/>
                </a:solidFill>
              </a:rPr>
              <a:t>Automatic solvent top-up is unavailable - levels are checked and topped up manually.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8575">
          <a:solidFill>
            <a:srgbClr val="FF0000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2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1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2902</TotalTime>
  <Words>134</Words>
  <Application>Microsoft Office PowerPoint</Application>
  <PresentationFormat>宽屏</PresentationFormat>
  <Paragraphs>55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25</vt:i4>
      </vt:variant>
      <vt:variant>
        <vt:lpstr>幻灯片标题</vt:lpstr>
      </vt:variant>
      <vt:variant>
        <vt:i4>2</vt:i4>
      </vt:variant>
    </vt:vector>
  </HeadingPairs>
  <TitlesOfParts>
    <vt:vector size="33" baseType="lpstr">
      <vt:lpstr>Helvetica Light</vt:lpstr>
      <vt:lpstr>等线</vt:lpstr>
      <vt:lpstr>微软雅黑</vt:lpstr>
      <vt:lpstr>Arial</vt:lpstr>
      <vt:lpstr>Calibri</vt:lpstr>
      <vt:lpstr>Wingdings</vt:lpstr>
      <vt:lpstr>1_webwppDefTheme</vt:lpstr>
      <vt:lpstr>2_webwppDefTheme</vt:lpstr>
      <vt:lpstr>webwppDefTheme</vt:lpstr>
      <vt:lpstr>3_webwppDefTheme</vt:lpstr>
      <vt:lpstr>4_webwppDefTheme</vt:lpstr>
      <vt:lpstr>5_webwppDefTheme</vt:lpstr>
      <vt:lpstr>6_webwppDefTheme</vt:lpstr>
      <vt:lpstr>7_webwppDefTheme</vt:lpstr>
      <vt:lpstr>9_webwppDefTheme</vt:lpstr>
      <vt:lpstr>8_webwppDefTheme</vt:lpstr>
      <vt:lpstr>16_webwppDefTheme</vt:lpstr>
      <vt:lpstr>22_webwppDefTheme</vt:lpstr>
      <vt:lpstr>10_webwppDefTheme</vt:lpstr>
      <vt:lpstr>11_webwppDefTheme</vt:lpstr>
      <vt:lpstr>12_webwppDefTheme</vt:lpstr>
      <vt:lpstr>13_webwppDefTheme</vt:lpstr>
      <vt:lpstr>14_webwppDefTheme</vt:lpstr>
      <vt:lpstr>15_webwppDefTheme</vt:lpstr>
      <vt:lpstr>17_webwppDefTheme</vt:lpstr>
      <vt:lpstr>25_webwppDefTheme</vt:lpstr>
      <vt:lpstr>18_webwppDefTheme</vt:lpstr>
      <vt:lpstr>19_webwppDefTheme</vt:lpstr>
      <vt:lpstr>20_webwppDefTheme</vt:lpstr>
      <vt:lpstr>26_webwppDefTheme</vt:lpstr>
      <vt:lpstr>27_webwppDefTheme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Dong Cui</dc:creator>
  <cp:lastModifiedBy>Ruijun Shi</cp:lastModifiedBy>
  <cp:revision>45</cp:revision>
  <dcterms:created xsi:type="dcterms:W3CDTF">2026-09-01T01:04:30Z</dcterms:created>
  <dcterms:modified xsi:type="dcterms:W3CDTF">2026-09-18T01:14:32Z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  <property fmtid="{D5CDD505-2E9C-101B-9397-08002B2CF9AE}" pid="4" name="ContentTypeId">
    <vt:lpwstr>0x01010081E1AFC219F9024AA012AA91AE638458</vt:lpwstr>
  </property>
  <property fmtid="{D5CDD505-2E9C-101B-9397-08002B2CF9AE}" pid="5" name="MediaServiceImageTags">
    <vt:lpwstr/>
  </property>
</Properties>
</file>