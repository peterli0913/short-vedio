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9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2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13.xml" ContentType="application/vnd.openxmlformats-officedocument.theme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4.xml" ContentType="application/vnd.openxmlformats-officedocument.theme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5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6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theme/theme17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8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theme/theme19.xml" ContentType="application/vnd.openxmlformats-officedocument.theme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20.xml" ContentType="application/vnd.openxmlformats-officedocument.theme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theme/theme21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22.xml" ContentType="application/vnd.openxmlformats-officedocument.theme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theme/theme23.xml" ContentType="application/vnd.openxmlformats-officedocument.theme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theme/theme24.xml" ContentType="application/vnd.openxmlformats-officedocument.theme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theme/theme25.xml" ContentType="application/vnd.openxmlformats-officedocument.theme+xml"/>
  <Override PartName="/ppt/theme/theme2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0" r:id="rId2"/>
    <p:sldMasterId id="2147483672" r:id="rId3"/>
    <p:sldMasterId id="2147483684" r:id="rId4"/>
    <p:sldMasterId id="2147483695" r:id="rId5"/>
    <p:sldMasterId id="2147483707" r:id="rId6"/>
    <p:sldMasterId id="2147483718" r:id="rId7"/>
    <p:sldMasterId id="2147483729" r:id="rId8"/>
    <p:sldMasterId id="2147483740" r:id="rId9"/>
    <p:sldMasterId id="2147483752" r:id="rId10"/>
    <p:sldMasterId id="2147483763" r:id="rId11"/>
    <p:sldMasterId id="2147483775" r:id="rId12"/>
    <p:sldMasterId id="2147483786" r:id="rId13"/>
    <p:sldMasterId id="2147483798" r:id="rId14"/>
    <p:sldMasterId id="2147483810" r:id="rId15"/>
    <p:sldMasterId id="2147483821" r:id="rId16"/>
    <p:sldMasterId id="2147483832" r:id="rId17"/>
    <p:sldMasterId id="2147483843" r:id="rId18"/>
    <p:sldMasterId id="2147483855" r:id="rId19"/>
    <p:sldMasterId id="2147483867" r:id="rId20"/>
    <p:sldMasterId id="2147483879" r:id="rId21"/>
    <p:sldMasterId id="2147483891" r:id="rId22"/>
    <p:sldMasterId id="2147483903" r:id="rId23"/>
    <p:sldMasterId id="2147483914" r:id="rId24"/>
    <p:sldMasterId id="2147483926" r:id="rId25"/>
  </p:sldMasterIdLst>
  <p:notesMasterIdLst>
    <p:notesMasterId r:id="rId28"/>
  </p:notesMasterIdLst>
  <p:sldIdLst>
    <p:sldId id="716" r:id="rId26"/>
    <p:sldId id="71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683">
          <p15:clr>
            <a:srgbClr val="A4A3A4"/>
          </p15:clr>
        </p15:guide>
        <p15:guide id="4" pos="3613">
          <p15:clr>
            <a:srgbClr val="A4A3A4"/>
          </p15:clr>
        </p15:guide>
        <p15:guide id="5" pos="4316">
          <p15:clr>
            <a:srgbClr val="A4A3A4"/>
          </p15:clr>
        </p15:guide>
        <p15:guide id="6" pos="5155">
          <p15:clr>
            <a:srgbClr val="A4A3A4"/>
          </p15:clr>
        </p15:guide>
        <p15:guide id="7" pos="5564">
          <p15:clr>
            <a:srgbClr val="A4A3A4"/>
          </p15:clr>
        </p15:guide>
        <p15:guide id="8" pos="6131">
          <p15:clr>
            <a:srgbClr val="A4A3A4"/>
          </p15:clr>
        </p15:guide>
        <p15:guide id="9" pos="67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CE4D6"/>
    <a:srgbClr val="EAEFF7"/>
    <a:srgbClr val="D2DEEF"/>
    <a:srgbClr val="00B050"/>
    <a:srgbClr val="C5E0B4"/>
    <a:srgbClr val="000000"/>
    <a:srgbClr val="CCFFCC"/>
    <a:srgbClr val="CCFF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6" autoAdjust="0"/>
    <p:restoredTop sz="94713" autoAdjust="0"/>
  </p:normalViewPr>
  <p:slideViewPr>
    <p:cSldViewPr snapToGrid="0">
      <p:cViewPr varScale="1">
        <p:scale>
          <a:sx n="64" d="100"/>
          <a:sy n="64" d="100"/>
        </p:scale>
        <p:origin x="1056" y="52"/>
      </p:cViewPr>
      <p:guideLst>
        <p:guide orient="horz" pos="2160"/>
        <p:guide pos="3840"/>
        <p:guide pos="2683"/>
        <p:guide pos="3613"/>
        <p:guide pos="4316"/>
        <p:guide pos="5155"/>
        <p:guide pos="5564"/>
        <p:guide pos="6131"/>
        <p:guide pos="6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EE7A1-3875-437A-B05D-B2863332313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B997C-3976-4E82-889B-21F328EE58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6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6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7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7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7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8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7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7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8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44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6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theme" Target="../theme/theme15.xml"/><Relationship Id="rId5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2.xml"/><Relationship Id="rId9" Type="http://schemas.openxmlformats.org/officeDocument/2006/relationships/slideLayout" Target="../slideLayouts/slideLayout157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theme" Target="../theme/theme16.xml"/><Relationship Id="rId5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5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7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3.xml"/><Relationship Id="rId7" Type="http://schemas.openxmlformats.org/officeDocument/2006/relationships/slideLayout" Target="../slideLayouts/slideLayout207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02.xml"/><Relationship Id="rId1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11.xml"/><Relationship Id="rId5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10.xml"/><Relationship Id="rId4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9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9.xml"/><Relationship Id="rId3" Type="http://schemas.openxmlformats.org/officeDocument/2006/relationships/slideLayout" Target="../slideLayouts/slideLayout214.xml"/><Relationship Id="rId7" Type="http://schemas.openxmlformats.org/officeDocument/2006/relationships/slideLayout" Target="../slideLayouts/slideLayout218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13.xml"/><Relationship Id="rId1" Type="http://schemas.openxmlformats.org/officeDocument/2006/relationships/slideLayout" Target="../slideLayouts/slideLayout212.xml"/><Relationship Id="rId6" Type="http://schemas.openxmlformats.org/officeDocument/2006/relationships/slideLayout" Target="../slideLayouts/slideLayout217.xml"/><Relationship Id="rId11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16.xml"/><Relationship Id="rId10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15.xml"/><Relationship Id="rId9" Type="http://schemas.openxmlformats.org/officeDocument/2006/relationships/slideLayout" Target="../slideLayouts/slideLayout220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29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32.xml"/><Relationship Id="rId4" Type="http://schemas.openxmlformats.org/officeDocument/2006/relationships/slideLayout" Target="../slideLayouts/slideLayout226.xml"/><Relationship Id="rId9" Type="http://schemas.openxmlformats.org/officeDocument/2006/relationships/slideLayout" Target="../slideLayouts/slideLayout231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36.xml"/><Relationship Id="rId7" Type="http://schemas.openxmlformats.org/officeDocument/2006/relationships/slideLayout" Target="../slideLayouts/slideLayout240.xml"/><Relationship Id="rId2" Type="http://schemas.openxmlformats.org/officeDocument/2006/relationships/slideLayout" Target="../slideLayouts/slideLayout235.xml"/><Relationship Id="rId1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9.xml"/><Relationship Id="rId11" Type="http://schemas.openxmlformats.org/officeDocument/2006/relationships/theme" Target="../theme/theme23.xml"/><Relationship Id="rId5" Type="http://schemas.openxmlformats.org/officeDocument/2006/relationships/slideLayout" Target="../slideLayouts/slideLayout238.xml"/><Relationship Id="rId10" Type="http://schemas.openxmlformats.org/officeDocument/2006/relationships/slideLayout" Target="../slideLayouts/slideLayout243.xml"/><Relationship Id="rId4" Type="http://schemas.openxmlformats.org/officeDocument/2006/relationships/slideLayout" Target="../slideLayouts/slideLayout237.xml"/><Relationship Id="rId9" Type="http://schemas.openxmlformats.org/officeDocument/2006/relationships/slideLayout" Target="../slideLayouts/slideLayout242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1.xml"/><Relationship Id="rId3" Type="http://schemas.openxmlformats.org/officeDocument/2006/relationships/slideLayout" Target="../slideLayouts/slideLayout246.xml"/><Relationship Id="rId7" Type="http://schemas.openxmlformats.org/officeDocument/2006/relationships/slideLayout" Target="../slideLayouts/slideLayout250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45.xml"/><Relationship Id="rId1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9.xml"/><Relationship Id="rId11" Type="http://schemas.openxmlformats.org/officeDocument/2006/relationships/slideLayout" Target="../slideLayouts/slideLayout254.xml"/><Relationship Id="rId5" Type="http://schemas.openxmlformats.org/officeDocument/2006/relationships/slideLayout" Target="../slideLayouts/slideLayout248.xml"/><Relationship Id="rId10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47.xml"/><Relationship Id="rId9" Type="http://schemas.openxmlformats.org/officeDocument/2006/relationships/slideLayout" Target="../slideLayouts/slideLayout252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61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255.xml"/><Relationship Id="rId6" Type="http://schemas.openxmlformats.org/officeDocument/2006/relationships/slideLayout" Target="../slideLayouts/slideLayout260.xml"/><Relationship Id="rId11" Type="http://schemas.openxmlformats.org/officeDocument/2006/relationships/slideLayout" Target="../slideLayouts/slideLayout265.xml"/><Relationship Id="rId5" Type="http://schemas.openxmlformats.org/officeDocument/2006/relationships/slideLayout" Target="../slideLayouts/slideLayout259.xml"/><Relationship Id="rId10" Type="http://schemas.openxmlformats.org/officeDocument/2006/relationships/slideLayout" Target="../slideLayouts/slideLayout264.xml"/><Relationship Id="rId4" Type="http://schemas.openxmlformats.org/officeDocument/2006/relationships/slideLayout" Target="../slideLayouts/slideLayout258.xml"/><Relationship Id="rId9" Type="http://schemas.openxmlformats.org/officeDocument/2006/relationships/slideLayout" Target="../slideLayouts/slideLayout2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43934" y="505934"/>
            <a:ext cx="4656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Passivation </a:t>
            </a:r>
            <a:r>
              <a:rPr lang="en-US" altLang="zh-CN" b="1" dirty="0" smtClean="0">
                <a:solidFill>
                  <a:srgbClr val="002060"/>
                </a:solidFill>
              </a:rPr>
              <a:t>Timeline for Equipment train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027589"/>
              </p:ext>
            </p:extLst>
          </p:nvPr>
        </p:nvGraphicFramePr>
        <p:xfrm>
          <a:off x="657682" y="1379481"/>
          <a:ext cx="10700590" cy="367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768">
                  <a:extLst>
                    <a:ext uri="{9D8B030D-6E8A-4147-A177-3AD203B41FA5}">
                      <a16:colId xmlns:a16="http://schemas.microsoft.com/office/drawing/2014/main" val="702991439"/>
                    </a:ext>
                  </a:extLst>
                </a:gridCol>
                <a:gridCol w="1095829">
                  <a:extLst>
                    <a:ext uri="{9D8B030D-6E8A-4147-A177-3AD203B41FA5}">
                      <a16:colId xmlns:a16="http://schemas.microsoft.com/office/drawing/2014/main" val="970268549"/>
                    </a:ext>
                  </a:extLst>
                </a:gridCol>
                <a:gridCol w="2520034">
                  <a:extLst>
                    <a:ext uri="{9D8B030D-6E8A-4147-A177-3AD203B41FA5}">
                      <a16:colId xmlns:a16="http://schemas.microsoft.com/office/drawing/2014/main" val="158641279"/>
                    </a:ext>
                  </a:extLst>
                </a:gridCol>
                <a:gridCol w="2568620">
                  <a:extLst>
                    <a:ext uri="{9D8B030D-6E8A-4147-A177-3AD203B41FA5}">
                      <a16:colId xmlns:a16="http://schemas.microsoft.com/office/drawing/2014/main" val="2381673757"/>
                    </a:ext>
                  </a:extLst>
                </a:gridCol>
                <a:gridCol w="2321339">
                  <a:extLst>
                    <a:ext uri="{9D8B030D-6E8A-4147-A177-3AD203B41FA5}">
                      <a16:colId xmlns:a16="http://schemas.microsoft.com/office/drawing/2014/main" val="1256024133"/>
                    </a:ext>
                  </a:extLst>
                </a:gridCol>
              </a:tblGrid>
              <a:tr h="438318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Step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Passivation Completion</a:t>
                      </a:r>
                      <a:r>
                        <a:rPr lang="en-US" altLang="zh-CN" sz="1400" baseline="0" dirty="0" smtClean="0"/>
                        <a:t> Date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Solvent Run</a:t>
                      </a:r>
                      <a:r>
                        <a:rPr lang="zh-CN" altLang="en-US" sz="1400" baseline="0" dirty="0" smtClean="0"/>
                        <a:t> </a:t>
                      </a:r>
                      <a:r>
                        <a:rPr lang="en-US" altLang="zh-CN" sz="1400" baseline="0" dirty="0" smtClean="0"/>
                        <a:t>Completion Date</a:t>
                      </a:r>
                      <a:endParaRPr lang="en-US" altLang="zh-CN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Equipment </a:t>
                      </a:r>
                      <a:r>
                        <a:rPr lang="en-US" altLang="zh-CN" sz="1400" dirty="0" smtClean="0"/>
                        <a:t>Ready </a:t>
                      </a:r>
                      <a:r>
                        <a:rPr lang="en-US" altLang="zh-CN" sz="1400" dirty="0" smtClean="0"/>
                        <a:t>Date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27453"/>
                  </a:ext>
                </a:extLst>
              </a:tr>
              <a:tr h="267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L1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140019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09/24/2026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09/25/2026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151419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591690"/>
                  </a:ext>
                </a:extLst>
              </a:tr>
              <a:tr h="267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L2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140020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09/23/2026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714660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48573"/>
                  </a:ext>
                </a:extLst>
              </a:tr>
              <a:tr h="2677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L3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140021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09/19/2026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09/21/2026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835233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550790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10/10/2026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682449"/>
                  </a:ext>
                </a:extLst>
              </a:tr>
              <a:tr h="2677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GG917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139788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09/21/2026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09/24/2026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09/26/2026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738695"/>
                  </a:ext>
                </a:extLst>
              </a:tr>
              <a:tr h="418174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expected to be completed in mid-October.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6541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All equipment has been passivated.</a:t>
                      </a:r>
                      <a:endParaRPr kumimoji="0" lang="zh-CN" alt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654858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57682" y="5230128"/>
            <a:ext cx="107005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Passivation </a:t>
            </a:r>
            <a:r>
              <a:rPr lang="en-US" altLang="zh-CN" sz="1600" dirty="0"/>
              <a:t>of the main body of the Synthesizer, Cleavage Reactor, Stainless </a:t>
            </a:r>
            <a:r>
              <a:rPr lang="en-US" altLang="zh-CN" sz="1600" dirty="0" smtClean="0"/>
              <a:t>steel Reactor and AFD has </a:t>
            </a:r>
            <a:r>
              <a:rPr lang="en-US" altLang="zh-CN" sz="1600" dirty="0"/>
              <a:t>been performed by the equipment manufacturer. </a:t>
            </a:r>
            <a:endParaRPr lang="en-US" altLang="zh-CN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For others, like tanks, pipeline, passivation will be done, and solvent run will be conducted. Timeline meet the use.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6688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2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757526" y="505934"/>
            <a:ext cx="522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Passivation </a:t>
            </a:r>
            <a:r>
              <a:rPr lang="en-US" altLang="zh-CN" b="1" dirty="0" smtClean="0">
                <a:solidFill>
                  <a:srgbClr val="002060"/>
                </a:solidFill>
              </a:rPr>
              <a:t>discussion for Solvent Tank Farm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885589"/>
      </p:ext>
    </p:extLst>
  </p:cSld>
  <p:clrMapOvr>
    <a:masterClrMapping/>
  </p:clrMapOvr>
</p:sld>
</file>

<file path=ppt/theme/theme1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134</Words>
  <Application>Microsoft Office PowerPoint</Application>
  <PresentationFormat>宽屏</PresentationFormat>
  <Paragraphs>55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2</vt:i4>
      </vt:variant>
    </vt:vector>
  </HeadingPairs>
  <TitlesOfParts>
    <vt:vector size="33" baseType="lpstr">
      <vt:lpstr>Helvetica Light</vt:lpstr>
      <vt:lpstr>等线</vt:lpstr>
      <vt:lpstr>微软雅黑</vt:lpstr>
      <vt:lpstr>Arial</vt:lpstr>
      <vt:lpstr>Calibri</vt:lpstr>
      <vt:lpstr>Wingdings</vt:lpstr>
      <vt:lpstr>1_webwppDefTheme</vt:lpstr>
      <vt:lpstr>2_webwppDefTheme</vt:lpstr>
      <vt:lpstr>webwppDefTheme</vt:lpstr>
      <vt:lpstr>3_webwppDefTheme</vt:lpstr>
      <vt:lpstr>4_webwppDefTheme</vt:lpstr>
      <vt:lpstr>5_webwppDefTheme</vt:lpstr>
      <vt:lpstr>6_webwppDefTheme</vt:lpstr>
      <vt:lpstr>7_webwppDefTheme</vt:lpstr>
      <vt:lpstr>9_webwppDefTheme</vt:lpstr>
      <vt:lpstr>8_webwppDefTheme</vt:lpstr>
      <vt:lpstr>16_webwppDefTheme</vt:lpstr>
      <vt:lpstr>22_webwppDefTheme</vt:lpstr>
      <vt:lpstr>10_webwppDefTheme</vt:lpstr>
      <vt:lpstr>11_webwppDefTheme</vt:lpstr>
      <vt:lpstr>12_webwppDefTheme</vt:lpstr>
      <vt:lpstr>13_webwppDefTheme</vt:lpstr>
      <vt:lpstr>14_webwppDefTheme</vt:lpstr>
      <vt:lpstr>15_webwppDefTheme</vt:lpstr>
      <vt:lpstr>17_webwppDefTheme</vt:lpstr>
      <vt:lpstr>25_webwppDefTheme</vt:lpstr>
      <vt:lpstr>18_webwppDefTheme</vt:lpstr>
      <vt:lpstr>19_webwppDefTheme</vt:lpstr>
      <vt:lpstr>20_webwppDefTheme</vt:lpstr>
      <vt:lpstr>26_webwppDefTheme</vt:lpstr>
      <vt:lpstr>27_webwppDefTheme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Cui</dc:creator>
  <cp:lastModifiedBy>Ruijun Shi</cp:lastModifiedBy>
  <cp:revision>45</cp:revision>
  <dcterms:created xsi:type="dcterms:W3CDTF">2026-09-01T01:04:30Z</dcterms:created>
  <dcterms:modified xsi:type="dcterms:W3CDTF">2026-09-18T01:14:32Z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  <property fmtid="{D5CDD505-2E9C-101B-9397-08002B2CF9AE}" pid="4" name="ContentTypeId">
    <vt:lpwstr>0x01010081E1AFC219F9024AA012AA91AE638458</vt:lpwstr>
  </property>
  <property fmtid="{D5CDD505-2E9C-101B-9397-08002B2CF9AE}" pid="5" name="MediaServiceImageTags">
    <vt:lpwstr/>
  </property>
</Properties>
</file>