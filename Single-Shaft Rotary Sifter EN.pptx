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1.png"/>
          <p:cNvPicPr>
            <a:picLocks noChangeAspect="1"/>
          </p:cNvPicPr>
          <p:nvPr/>
        </p:nvPicPr>
        <p:blipFill>
          <a:blip r:embed="rId1"/>
          <a:stretch>
            <a:fillRect/>
          </a:stretch>
        </p:blipFill>
        <p:spPr>
          <a:xfrm>
            <a:off x="640080" y="1874519"/>
            <a:ext cx="2531364" cy="502920"/>
          </a:xfrm>
          <a:prstGeom prst="rect">
            <a:avLst/>
          </a:prstGeom>
        </p:spPr>
      </p:pic>
      <p:sp>
        <p:nvSpPr>
          <p:cNvPr id="5" name="TextBox 4"/>
          <p:cNvSpPr txBox="1"/>
          <p:nvPr/>
        </p:nvSpPr>
        <p:spPr>
          <a:xfrm>
            <a:off x="640080" y="2606040"/>
            <a:ext cx="10972800" cy="640080"/>
          </a:xfrm>
          <a:prstGeom prst="rect">
            <a:avLst/>
          </a:prstGeom>
          <a:noFill/>
        </p:spPr>
        <p:txBody>
          <a:bodyPr wrap="square" anchor="t"/>
          <a:lstStyle/>
          <a:p>
            <a:pPr algn="l"/>
            <a:r>
              <a:rPr lang="en-US" sz="3600" b="1">
                <a:solidFill>
                  <a:srgbClr val="366092"/>
                </a:solidFill>
                <a:latin typeface="Calibri" panose="020F0502020204030204"/>
                <a:ea typeface="微软雅黑" panose="020B0503020204020204" charset="-122"/>
                <a:cs typeface="Calibri" panose="020F0502020204030204"/>
              </a:rPr>
              <a:t>Single-Shaft Rotary Sifter</a:t>
            </a:r>
            <a:endParaRPr lang="en-US" sz="3600" b="1">
              <a:solidFill>
                <a:srgbClr val="366092"/>
              </a:solidFill>
              <a:latin typeface="Calibri" panose="020F0502020204030204"/>
              <a:ea typeface="微软雅黑" panose="020B0503020204020204" charset="-122"/>
              <a:cs typeface="Calibri" panose="020F0502020204030204"/>
            </a:endParaRPr>
          </a:p>
        </p:txBody>
      </p:sp>
      <p:sp>
        <p:nvSpPr>
          <p:cNvPr id="6" name="TextBox 5"/>
          <p:cNvSpPr txBox="1"/>
          <p:nvPr/>
        </p:nvSpPr>
        <p:spPr>
          <a:xfrm>
            <a:off x="640080" y="3246120"/>
            <a:ext cx="10972800" cy="411480"/>
          </a:xfrm>
          <a:prstGeom prst="rect">
            <a:avLst/>
          </a:prstGeom>
          <a:noFill/>
        </p:spPr>
        <p:txBody>
          <a:bodyPr wrap="square" anchor="t"/>
          <a:lstStyle/>
          <a:p>
            <a:pPr algn="l"/>
            <a:r>
              <a:rPr lang="en-US" sz="2400" b="0">
                <a:solidFill>
                  <a:srgbClr val="2E75B6"/>
                </a:solidFill>
                <a:latin typeface="Calibri" panose="020F0502020204030204"/>
                <a:ea typeface="微软雅黑" panose="020B0503020204020204" charset="-122"/>
                <a:cs typeface="Calibri" panose="020F0502020204030204"/>
              </a:rPr>
              <a:t>Questions and responses</a:t>
            </a:r>
            <a:endParaRPr lang="en-US" sz="2400" b="0">
              <a:solidFill>
                <a:srgbClr val="2E75B6"/>
              </a:solidFill>
              <a:latin typeface="Calibri" panose="020F0502020204030204"/>
              <a:ea typeface="微软雅黑" panose="020B0503020204020204" charset="-122"/>
              <a:cs typeface="Calibri" panose="020F0502020204030204"/>
            </a:endParaRPr>
          </a:p>
        </p:txBody>
      </p:sp>
      <p:sp>
        <p:nvSpPr>
          <p:cNvPr id="8" name="Rectangle 7"/>
          <p:cNvSpPr/>
          <p:nvPr/>
        </p:nvSpPr>
        <p:spPr>
          <a:xfrm>
            <a:off x="0" y="6565392"/>
            <a:ext cx="12191695" cy="2926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583680"/>
            <a:ext cx="10972800" cy="237744"/>
          </a:xfrm>
          <a:prstGeom prst="rect">
            <a:avLst/>
          </a:prstGeom>
          <a:noFill/>
        </p:spPr>
        <p:txBody>
          <a:bodyPr wrap="none">
            <a:spAutoFit/>
          </a:bodyPr>
          <a:lstStyle/>
          <a:p>
            <a:r>
              <a:rPr lang="en-US" sz="1100" b="0">
                <a:solidFill>
                  <a:srgbClr val="FFFFFF"/>
                </a:solidFill>
                <a:latin typeface="Calibri" panose="020F0502020204030204"/>
                <a:ea typeface="微软雅黑" panose="020B0503020204020204" charset="-122"/>
                <a:cs typeface="Calibri" panose="020F0502020204030204"/>
              </a:rPr>
              <a:t>Confidential</a:t>
            </a:r>
            <a:endParaRPr lang="en-US" sz="1100" b="0">
              <a:solidFill>
                <a:srgbClr val="FFFFFF"/>
              </a:solidFill>
              <a:latin typeface="Calibri" panose="020F0502020204030204"/>
              <a:ea typeface="微软雅黑" panose="020B0503020204020204" charset="-122"/>
              <a:cs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658368"/>
            <a:ext cx="12191695" cy="12700"/>
          </a:xfrm>
          <a:prstGeom prst="rect">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1"/>
          <a:stretch>
            <a:fillRect/>
          </a:stretch>
        </p:blipFill>
        <p:spPr>
          <a:xfrm>
            <a:off x="347472" y="146304"/>
            <a:ext cx="1933042" cy="384048"/>
          </a:xfrm>
          <a:prstGeom prst="rect">
            <a:avLst/>
          </a:prstGeom>
        </p:spPr>
      </p:pic>
      <p:sp>
        <p:nvSpPr>
          <p:cNvPr id="4" name="TextBox 3"/>
          <p:cNvSpPr txBox="1"/>
          <p:nvPr/>
        </p:nvSpPr>
        <p:spPr>
          <a:xfrm>
            <a:off x="3749039" y="146304"/>
            <a:ext cx="8046720" cy="429895"/>
          </a:xfrm>
          <a:prstGeom prst="rect">
            <a:avLst/>
          </a:prstGeom>
          <a:noFill/>
        </p:spPr>
        <p:txBody>
          <a:bodyPr wrap="square">
            <a:spAutoFit/>
          </a:bodyPr>
          <a:lstStyle/>
          <a:p>
            <a:pPr algn="r"/>
            <a:r>
              <a:rPr lang="en-US" sz="2200" b="1">
                <a:solidFill>
                  <a:srgbClr val="366092"/>
                </a:solidFill>
                <a:latin typeface="Calibri" panose="020F0502020204030204"/>
                <a:ea typeface="微软雅黑" panose="020B0503020204020204" charset="-122"/>
                <a:cs typeface="Calibri" panose="020F0502020204030204"/>
              </a:rPr>
              <a:t> 1 of 2</a:t>
            </a:r>
            <a:endParaRPr lang="en-US" sz="2200" b="1">
              <a:solidFill>
                <a:srgbClr val="366092"/>
              </a:solidFill>
              <a:latin typeface="Calibri" panose="020F0502020204030204"/>
              <a:ea typeface="微软雅黑" panose="020B0503020204020204" charset="-122"/>
              <a:cs typeface="Calibri" panose="020F0502020204030204"/>
            </a:endParaRPr>
          </a:p>
        </p:txBody>
      </p:sp>
      <p:sp>
        <p:nvSpPr>
          <p:cNvPr id="5" name="Rectangle 4"/>
          <p:cNvSpPr/>
          <p:nvPr/>
        </p:nvSpPr>
        <p:spPr>
          <a:xfrm>
            <a:off x="0" y="6565392"/>
            <a:ext cx="12191695" cy="2926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83680"/>
            <a:ext cx="11430000" cy="237744"/>
          </a:xfrm>
          <a:prstGeom prst="rect">
            <a:avLst/>
          </a:prstGeom>
          <a:noFill/>
        </p:spPr>
        <p:txBody>
          <a:bodyPr wrap="none">
            <a:spAutoFit/>
          </a:bodyPr>
          <a:lstStyle/>
          <a:p>
            <a:pPr algn="r"/>
            <a:r>
              <a:rPr lang="en-US" sz="1100" b="0">
                <a:solidFill>
                  <a:srgbClr val="FFFFFF"/>
                </a:solidFill>
                <a:latin typeface="Calibri" panose="020F0502020204030204"/>
                <a:ea typeface="微软雅黑" panose="020B0503020204020204" charset="-122"/>
                <a:cs typeface="Calibri" panose="020F0502020204030204"/>
              </a:rPr>
              <a:t>Confidential</a:t>
            </a:r>
            <a:endParaRPr lang="en-US" sz="1100" b="0">
              <a:solidFill>
                <a:srgbClr val="FFFFFF"/>
              </a:solidFill>
              <a:latin typeface="Calibri" panose="020F0502020204030204"/>
              <a:ea typeface="微软雅黑" panose="020B0503020204020204" charset="-122"/>
              <a:cs typeface="Calibri" panose="020F0502020204030204"/>
            </a:endParaRPr>
          </a:p>
        </p:txBody>
      </p:sp>
      <p:sp>
        <p:nvSpPr>
          <p:cNvPr id="7" name="Rounded Rectangle 6"/>
          <p:cNvSpPr/>
          <p:nvPr/>
        </p:nvSpPr>
        <p:spPr>
          <a:xfrm>
            <a:off x="384048" y="841248"/>
            <a:ext cx="11430000" cy="1261872"/>
          </a:xfrm>
          <a:prstGeom prst="roundRect">
            <a:avLst>
              <a:gd name="adj" fmla="val 8000"/>
            </a:avLst>
          </a:prstGeom>
          <a:solidFill>
            <a:srgbClr val="F3F6FB"/>
          </a:solidFill>
          <a:ln w="9525">
            <a:solidFill>
              <a:srgbClr val="8EA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Oval 7"/>
          <p:cNvSpPr/>
          <p:nvPr/>
        </p:nvSpPr>
        <p:spPr>
          <a:xfrm>
            <a:off x="493776" y="950976"/>
            <a:ext cx="329184" cy="329184"/>
          </a:xfrm>
          <a:prstGeom prst="ellipse">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600" b="1">
                <a:solidFill>
                  <a:srgbClr val="FFFFFF"/>
                </a:solidFill>
                <a:latin typeface="Calibri" panose="020F0502020204030204"/>
                <a:ea typeface="微软雅黑" panose="020B0503020204020204" charset="-122"/>
                <a:cs typeface="Calibri" panose="020F0502020204030204"/>
              </a:rPr>
              <a:t>1</a:t>
            </a:r>
            <a:endParaRPr lang="en-US" sz="1600" b="1">
              <a:solidFill>
                <a:srgbClr val="FFFFFF"/>
              </a:solidFill>
              <a:latin typeface="Calibri" panose="020F0502020204030204"/>
              <a:ea typeface="微软雅黑" panose="020B0503020204020204" charset="-122"/>
              <a:cs typeface="Calibri" panose="020F0502020204030204"/>
            </a:endParaRPr>
          </a:p>
        </p:txBody>
      </p:sp>
      <p:sp>
        <p:nvSpPr>
          <p:cNvPr id="9" name="TextBox 8"/>
          <p:cNvSpPr txBox="1"/>
          <p:nvPr/>
        </p:nvSpPr>
        <p:spPr>
          <a:xfrm>
            <a:off x="896112" y="932688"/>
            <a:ext cx="10789920" cy="368300"/>
          </a:xfrm>
          <a:prstGeom prst="rect">
            <a:avLst/>
          </a:prstGeom>
          <a:noFill/>
        </p:spPr>
        <p:txBody>
          <a:bodyPr wrap="square">
            <a:spAutoFit/>
          </a:bodyPr>
          <a:lstStyle/>
          <a:p>
            <a:r>
              <a:rPr lang="en-US" b="1">
                <a:solidFill>
                  <a:srgbClr val="366092"/>
                </a:solidFill>
                <a:latin typeface="Calibri" panose="020F0502020204030204"/>
                <a:ea typeface="微软雅黑" panose="020B0503020204020204" charset="-122"/>
                <a:cs typeface="Calibri" panose="020F0502020204030204"/>
              </a:rPr>
              <a:t>Sampling point</a:t>
            </a:r>
            <a:endParaRPr lang="en-US" b="1">
              <a:solidFill>
                <a:srgbClr val="366092"/>
              </a:solidFill>
              <a:latin typeface="Calibri" panose="020F0502020204030204"/>
              <a:ea typeface="微软雅黑" panose="020B0503020204020204" charset="-122"/>
              <a:cs typeface="Calibri" panose="020F0502020204030204"/>
            </a:endParaRPr>
          </a:p>
        </p:txBody>
      </p:sp>
      <p:sp>
        <p:nvSpPr>
          <p:cNvPr id="10" name="TextBox 9"/>
          <p:cNvSpPr txBox="1"/>
          <p:nvPr/>
        </p:nvSpPr>
        <p:spPr>
          <a:xfrm>
            <a:off x="530352" y="1280160"/>
            <a:ext cx="11173968" cy="337185"/>
          </a:xfrm>
          <a:prstGeom prst="rect">
            <a:avLst/>
          </a:prstGeom>
          <a:noFill/>
        </p:spPr>
        <p:txBody>
          <a:bodyPr wrap="square">
            <a:spAutoFit/>
          </a:bodyPr>
          <a:lstStyle/>
          <a:p>
            <a:pPr algn="l">
              <a:spcAft>
                <a:spcPts val="400"/>
              </a:spcAft>
            </a:pPr>
            <a:r>
              <a:rPr lang="en-US" sz="1600" b="0">
                <a:solidFill>
                  <a:srgbClr val="222222"/>
                </a:solidFill>
                <a:latin typeface="Calibri" panose="020F0502020204030204"/>
                <a:ea typeface="微软雅黑" panose="020B0503020204020204" charset="-122"/>
                <a:cs typeface="Calibri" panose="020F0502020204030204"/>
              </a:rPr>
              <a:t>The sifter has no sampling port. Samples can be taken from a continuous plastic liner, or from the packaged FIBC (ton bag).</a:t>
            </a:r>
            <a:endParaRPr lang="en-US" sz="1600" b="0">
              <a:solidFill>
                <a:srgbClr val="222222"/>
              </a:solidFill>
              <a:latin typeface="Calibri" panose="020F0502020204030204"/>
              <a:ea typeface="微软雅黑" panose="020B0503020204020204" charset="-122"/>
              <a:cs typeface="Calibri" panose="020F0502020204030204"/>
            </a:endParaRPr>
          </a:p>
        </p:txBody>
      </p:sp>
      <p:sp>
        <p:nvSpPr>
          <p:cNvPr id="11" name="Rounded Rectangle 10"/>
          <p:cNvSpPr/>
          <p:nvPr/>
        </p:nvSpPr>
        <p:spPr>
          <a:xfrm>
            <a:off x="384048" y="2231136"/>
            <a:ext cx="11430000" cy="1261872"/>
          </a:xfrm>
          <a:prstGeom prst="roundRect">
            <a:avLst>
              <a:gd name="adj" fmla="val 8000"/>
            </a:avLst>
          </a:prstGeom>
          <a:solidFill>
            <a:srgbClr val="F3F6FB"/>
          </a:solidFill>
          <a:ln w="9525">
            <a:solidFill>
              <a:srgbClr val="8EA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Oval 11"/>
          <p:cNvSpPr/>
          <p:nvPr/>
        </p:nvSpPr>
        <p:spPr>
          <a:xfrm>
            <a:off x="493776" y="2340864"/>
            <a:ext cx="329184" cy="329184"/>
          </a:xfrm>
          <a:prstGeom prst="ellipse">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600" b="1">
                <a:solidFill>
                  <a:srgbClr val="FFFFFF"/>
                </a:solidFill>
                <a:latin typeface="Calibri" panose="020F0502020204030204"/>
                <a:ea typeface="微软雅黑" panose="020B0503020204020204" charset="-122"/>
                <a:cs typeface="Calibri" panose="020F0502020204030204"/>
              </a:rPr>
              <a:t>2</a:t>
            </a:r>
            <a:endParaRPr lang="en-US" sz="1600" b="1">
              <a:solidFill>
                <a:srgbClr val="FFFFFF"/>
              </a:solidFill>
              <a:latin typeface="Calibri" panose="020F0502020204030204"/>
              <a:ea typeface="微软雅黑" panose="020B0503020204020204" charset="-122"/>
              <a:cs typeface="Calibri" panose="020F0502020204030204"/>
            </a:endParaRPr>
          </a:p>
        </p:txBody>
      </p:sp>
      <p:sp>
        <p:nvSpPr>
          <p:cNvPr id="13" name="TextBox 12"/>
          <p:cNvSpPr txBox="1"/>
          <p:nvPr/>
        </p:nvSpPr>
        <p:spPr>
          <a:xfrm>
            <a:off x="896112" y="2322576"/>
            <a:ext cx="10789920" cy="368300"/>
          </a:xfrm>
          <a:prstGeom prst="rect">
            <a:avLst/>
          </a:prstGeom>
          <a:noFill/>
        </p:spPr>
        <p:txBody>
          <a:bodyPr wrap="square">
            <a:spAutoFit/>
          </a:bodyPr>
          <a:lstStyle/>
          <a:p>
            <a:r>
              <a:rPr lang="en-US" b="1">
                <a:solidFill>
                  <a:srgbClr val="366092"/>
                </a:solidFill>
                <a:latin typeface="Calibri" panose="020F0502020204030204"/>
                <a:ea typeface="微软雅黑" panose="020B0503020204020204" charset="-122"/>
                <a:cs typeface="Calibri" panose="020F0502020204030204"/>
              </a:rPr>
              <a:t>How is oxygen measured?</a:t>
            </a:r>
            <a:endParaRPr lang="en-US" b="1">
              <a:solidFill>
                <a:srgbClr val="366092"/>
              </a:solidFill>
              <a:latin typeface="Calibri" panose="020F0502020204030204"/>
              <a:ea typeface="微软雅黑" panose="020B0503020204020204" charset="-122"/>
              <a:cs typeface="Calibri" panose="020F0502020204030204"/>
            </a:endParaRPr>
          </a:p>
        </p:txBody>
      </p:sp>
      <p:sp>
        <p:nvSpPr>
          <p:cNvPr id="14" name="TextBox 13"/>
          <p:cNvSpPr txBox="1"/>
          <p:nvPr/>
        </p:nvSpPr>
        <p:spPr>
          <a:xfrm>
            <a:off x="530352" y="2670048"/>
            <a:ext cx="11173968" cy="583565"/>
          </a:xfrm>
          <a:prstGeom prst="rect">
            <a:avLst/>
          </a:prstGeom>
          <a:noFill/>
        </p:spPr>
        <p:txBody>
          <a:bodyPr wrap="square">
            <a:spAutoFit/>
          </a:bodyPr>
          <a:lstStyle/>
          <a:p>
            <a:pPr algn="l">
              <a:spcAft>
                <a:spcPts val="400"/>
              </a:spcAft>
            </a:pPr>
            <a:r>
              <a:rPr lang="en-US" sz="1600" b="0">
                <a:solidFill>
                  <a:srgbClr val="222222"/>
                </a:solidFill>
                <a:latin typeface="Calibri" panose="020F0502020204030204"/>
                <a:ea typeface="微软雅黑" panose="020B0503020204020204" charset="-122"/>
                <a:cs typeface="Calibri" panose="020F0502020204030204"/>
              </a:rPr>
              <a:t>A fixed oxygen analyzer is installed on the unit and can be read directly. An oxygen interlock stops the equipment automatically when the reading exceeds the set point.</a:t>
            </a:r>
            <a:endParaRPr lang="en-US" sz="1600" b="0">
              <a:solidFill>
                <a:srgbClr val="222222"/>
              </a:solidFill>
              <a:latin typeface="Calibri" panose="020F0502020204030204"/>
              <a:ea typeface="微软雅黑" panose="020B0503020204020204" charset="-122"/>
              <a:cs typeface="Calibri" panose="020F0502020204030204"/>
            </a:endParaRPr>
          </a:p>
        </p:txBody>
      </p:sp>
      <p:sp>
        <p:nvSpPr>
          <p:cNvPr id="15" name="Rounded Rectangle 14"/>
          <p:cNvSpPr/>
          <p:nvPr/>
        </p:nvSpPr>
        <p:spPr>
          <a:xfrm>
            <a:off x="384048" y="3621024"/>
            <a:ext cx="11430000" cy="1261872"/>
          </a:xfrm>
          <a:prstGeom prst="roundRect">
            <a:avLst>
              <a:gd name="adj" fmla="val 8000"/>
            </a:avLst>
          </a:prstGeom>
          <a:solidFill>
            <a:srgbClr val="F3F6FB"/>
          </a:solidFill>
          <a:ln w="9525">
            <a:solidFill>
              <a:srgbClr val="8EA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Oval 15"/>
          <p:cNvSpPr/>
          <p:nvPr/>
        </p:nvSpPr>
        <p:spPr>
          <a:xfrm>
            <a:off x="493776" y="3730752"/>
            <a:ext cx="329184" cy="329184"/>
          </a:xfrm>
          <a:prstGeom prst="ellipse">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600" b="1">
                <a:solidFill>
                  <a:srgbClr val="FFFFFF"/>
                </a:solidFill>
                <a:latin typeface="Calibri" panose="020F0502020204030204"/>
                <a:ea typeface="微软雅黑" panose="020B0503020204020204" charset="-122"/>
                <a:cs typeface="Calibri" panose="020F0502020204030204"/>
              </a:rPr>
              <a:t>3</a:t>
            </a:r>
            <a:endParaRPr lang="en-US" sz="1600" b="1">
              <a:solidFill>
                <a:srgbClr val="FFFFFF"/>
              </a:solidFill>
              <a:latin typeface="Calibri" panose="020F0502020204030204"/>
              <a:ea typeface="微软雅黑" panose="020B0503020204020204" charset="-122"/>
              <a:cs typeface="Calibri" panose="020F0502020204030204"/>
            </a:endParaRPr>
          </a:p>
        </p:txBody>
      </p:sp>
      <p:sp>
        <p:nvSpPr>
          <p:cNvPr id="17" name="TextBox 16"/>
          <p:cNvSpPr txBox="1"/>
          <p:nvPr/>
        </p:nvSpPr>
        <p:spPr>
          <a:xfrm>
            <a:off x="896112" y="3712464"/>
            <a:ext cx="10789920" cy="368300"/>
          </a:xfrm>
          <a:prstGeom prst="rect">
            <a:avLst/>
          </a:prstGeom>
          <a:noFill/>
        </p:spPr>
        <p:txBody>
          <a:bodyPr wrap="square">
            <a:spAutoFit/>
          </a:bodyPr>
          <a:lstStyle/>
          <a:p>
            <a:r>
              <a:rPr lang="en-US" b="1">
                <a:solidFill>
                  <a:srgbClr val="366092"/>
                </a:solidFill>
                <a:latin typeface="Calibri" panose="020F0502020204030204"/>
                <a:ea typeface="微软雅黑" panose="020B0503020204020204" charset="-122"/>
                <a:cs typeface="Calibri" panose="020F0502020204030204"/>
              </a:rPr>
              <a:t>How is temperature monitored?</a:t>
            </a:r>
            <a:endParaRPr lang="en-US" b="1">
              <a:solidFill>
                <a:srgbClr val="366092"/>
              </a:solidFill>
              <a:latin typeface="Calibri" panose="020F0502020204030204"/>
              <a:ea typeface="微软雅黑" panose="020B0503020204020204" charset="-122"/>
              <a:cs typeface="Calibri" panose="020F0502020204030204"/>
            </a:endParaRPr>
          </a:p>
        </p:txBody>
      </p:sp>
      <p:sp>
        <p:nvSpPr>
          <p:cNvPr id="18" name="TextBox 17"/>
          <p:cNvSpPr txBox="1"/>
          <p:nvPr/>
        </p:nvSpPr>
        <p:spPr>
          <a:xfrm>
            <a:off x="530352" y="4059936"/>
            <a:ext cx="11173968" cy="337185"/>
          </a:xfrm>
          <a:prstGeom prst="rect">
            <a:avLst/>
          </a:prstGeom>
          <a:noFill/>
        </p:spPr>
        <p:txBody>
          <a:bodyPr wrap="square">
            <a:spAutoFit/>
          </a:bodyPr>
          <a:lstStyle/>
          <a:p>
            <a:pPr algn="l">
              <a:spcAft>
                <a:spcPts val="400"/>
              </a:spcAft>
            </a:pPr>
            <a:r>
              <a:rPr lang="en-US" sz="1600" b="0">
                <a:solidFill>
                  <a:srgbClr val="222222"/>
                </a:solidFill>
                <a:latin typeface="Calibri" panose="020F0502020204030204"/>
                <a:ea typeface="微软雅黑" panose="020B0503020204020204" charset="-122"/>
                <a:cs typeface="Calibri" panose="020F0502020204030204"/>
              </a:rPr>
              <a:t>This equipment has no temperature monitoring.</a:t>
            </a:r>
            <a:endParaRPr lang="en-US" sz="1600" b="0">
              <a:solidFill>
                <a:srgbClr val="222222"/>
              </a:solidFill>
              <a:latin typeface="Calibri" panose="020F0502020204030204"/>
              <a:ea typeface="微软雅黑" panose="020B0503020204020204" charset="-122"/>
              <a:cs typeface="Calibri" panose="020F0502020204030204"/>
            </a:endParaRPr>
          </a:p>
        </p:txBody>
      </p:sp>
      <p:sp>
        <p:nvSpPr>
          <p:cNvPr id="19" name="Rounded Rectangle 18"/>
          <p:cNvSpPr/>
          <p:nvPr/>
        </p:nvSpPr>
        <p:spPr>
          <a:xfrm>
            <a:off x="384048" y="5010912"/>
            <a:ext cx="11430000" cy="1261872"/>
          </a:xfrm>
          <a:prstGeom prst="roundRect">
            <a:avLst>
              <a:gd name="adj" fmla="val 8000"/>
            </a:avLst>
          </a:prstGeom>
          <a:solidFill>
            <a:srgbClr val="F3F6FB"/>
          </a:solidFill>
          <a:ln w="9525">
            <a:solidFill>
              <a:srgbClr val="8EA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20" name="Oval 19"/>
          <p:cNvSpPr/>
          <p:nvPr/>
        </p:nvSpPr>
        <p:spPr>
          <a:xfrm>
            <a:off x="493776" y="5120640"/>
            <a:ext cx="329184" cy="329184"/>
          </a:xfrm>
          <a:prstGeom prst="ellipse">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600" b="1">
                <a:solidFill>
                  <a:srgbClr val="FFFFFF"/>
                </a:solidFill>
                <a:latin typeface="Calibri" panose="020F0502020204030204"/>
                <a:ea typeface="微软雅黑" panose="020B0503020204020204" charset="-122"/>
                <a:cs typeface="Calibri" panose="020F0502020204030204"/>
              </a:rPr>
              <a:t>4</a:t>
            </a:r>
            <a:endParaRPr lang="en-US" sz="1600" b="1">
              <a:solidFill>
                <a:srgbClr val="FFFFFF"/>
              </a:solidFill>
              <a:latin typeface="Calibri" panose="020F0502020204030204"/>
              <a:ea typeface="微软雅黑" panose="020B0503020204020204" charset="-122"/>
              <a:cs typeface="Calibri" panose="020F0502020204030204"/>
            </a:endParaRPr>
          </a:p>
        </p:txBody>
      </p:sp>
      <p:sp>
        <p:nvSpPr>
          <p:cNvPr id="21" name="TextBox 20"/>
          <p:cNvSpPr txBox="1"/>
          <p:nvPr/>
        </p:nvSpPr>
        <p:spPr>
          <a:xfrm>
            <a:off x="896112" y="5102352"/>
            <a:ext cx="10789920" cy="368300"/>
          </a:xfrm>
          <a:prstGeom prst="rect">
            <a:avLst/>
          </a:prstGeom>
          <a:noFill/>
        </p:spPr>
        <p:txBody>
          <a:bodyPr wrap="square">
            <a:spAutoFit/>
          </a:bodyPr>
          <a:lstStyle/>
          <a:p>
            <a:r>
              <a:rPr lang="en-US" b="1">
                <a:solidFill>
                  <a:srgbClr val="366092"/>
                </a:solidFill>
                <a:latin typeface="Calibri" panose="020F0502020204030204"/>
                <a:ea typeface="微软雅黑" panose="020B0503020204020204" charset="-122"/>
                <a:cs typeface="Calibri" panose="020F0502020204030204"/>
              </a:rPr>
              <a:t>How is weighment done?</a:t>
            </a:r>
            <a:endParaRPr lang="en-US" b="1">
              <a:solidFill>
                <a:srgbClr val="366092"/>
              </a:solidFill>
              <a:latin typeface="Calibri" panose="020F0502020204030204"/>
              <a:ea typeface="微软雅黑" panose="020B0503020204020204" charset="-122"/>
              <a:cs typeface="Calibri" panose="020F0502020204030204"/>
            </a:endParaRPr>
          </a:p>
        </p:txBody>
      </p:sp>
      <p:sp>
        <p:nvSpPr>
          <p:cNvPr id="22" name="TextBox 21"/>
          <p:cNvSpPr txBox="1"/>
          <p:nvPr/>
        </p:nvSpPr>
        <p:spPr>
          <a:xfrm>
            <a:off x="530352" y="5449824"/>
            <a:ext cx="11173968" cy="881380"/>
          </a:xfrm>
          <a:prstGeom prst="rect">
            <a:avLst/>
          </a:prstGeom>
          <a:noFill/>
        </p:spPr>
        <p:txBody>
          <a:bodyPr wrap="square">
            <a:spAutoFit/>
          </a:bodyPr>
          <a:lstStyle/>
          <a:p>
            <a:pPr algn="l">
              <a:spcAft>
                <a:spcPts val="400"/>
              </a:spcAft>
            </a:pPr>
            <a:r>
              <a:rPr lang="en-US" sz="1600" b="0">
                <a:solidFill>
                  <a:srgbClr val="222222"/>
                </a:solidFill>
                <a:latin typeface="Calibri" panose="020F0502020204030204"/>
                <a:ea typeface="微软雅黑" panose="020B0503020204020204" charset="-122"/>
                <a:cs typeface="Calibri" panose="020F0502020204030204"/>
              </a:rPr>
              <a:t>A platform scale is tied into the PLC. When the weight reaches the set point, the discharge valve closes and the unit stops automatically.</a:t>
            </a:r>
            <a:endParaRPr lang="en-US" sz="1600" b="0">
              <a:solidFill>
                <a:srgbClr val="222222"/>
              </a:solidFill>
              <a:latin typeface="Calibri" panose="020F0502020204030204"/>
              <a:ea typeface="微软雅黑" panose="020B0503020204020204" charset="-122"/>
              <a:cs typeface="Calibri" panose="020F0502020204030204"/>
            </a:endParaRPr>
          </a:p>
          <a:p>
            <a:pPr algn="l">
              <a:spcAft>
                <a:spcPts val="400"/>
              </a:spcAft>
            </a:pPr>
            <a:r>
              <a:rPr lang="en-US" sz="1600" b="0">
                <a:solidFill>
                  <a:srgbClr val="222222"/>
                </a:solidFill>
                <a:latin typeface="Calibri" panose="020F0502020204030204"/>
                <a:ea typeface="微软雅黑" panose="020B0503020204020204" charset="-122"/>
                <a:cs typeface="Calibri" panose="020F0502020204030204"/>
              </a:rPr>
              <a:t>For GG917, the target fill is </a:t>
            </a:r>
            <a:r>
              <a:rPr lang="en-US" sz="1600" b="1">
                <a:solidFill>
                  <a:srgbClr val="C00000"/>
                </a:solidFill>
                <a:latin typeface="Calibri" panose="020F0502020204030204"/>
                <a:ea typeface="微软雅黑" panose="020B0503020204020204" charset="-122"/>
                <a:cs typeface="Calibri" panose="020F0502020204030204"/>
              </a:rPr>
              <a:t>~7 kg</a:t>
            </a:r>
            <a:r>
              <a:rPr lang="en-US" sz="1600" b="0">
                <a:solidFill>
                  <a:srgbClr val="222222"/>
                </a:solidFill>
                <a:latin typeface="Calibri" panose="020F0502020204030204"/>
                <a:ea typeface="微软雅黑" panose="020B0503020204020204" charset="-122"/>
                <a:cs typeface="Calibri" panose="020F0502020204030204"/>
              </a:rPr>
              <a:t> per bag. The scale can be set to 7 kg to meet the packaging weighment.</a:t>
            </a:r>
            <a:endParaRPr lang="en-US" sz="1600" b="0">
              <a:solidFill>
                <a:srgbClr val="222222"/>
              </a:solidFill>
              <a:latin typeface="Calibri" panose="020F0502020204030204"/>
              <a:ea typeface="微软雅黑" panose="020B0503020204020204" charset="-122"/>
              <a:cs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658368"/>
            <a:ext cx="12191695" cy="12700"/>
          </a:xfrm>
          <a:prstGeom prst="rect">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1"/>
          <a:stretch>
            <a:fillRect/>
          </a:stretch>
        </p:blipFill>
        <p:spPr>
          <a:xfrm>
            <a:off x="347472" y="146304"/>
            <a:ext cx="1933042" cy="384048"/>
          </a:xfrm>
          <a:prstGeom prst="rect">
            <a:avLst/>
          </a:prstGeom>
        </p:spPr>
      </p:pic>
      <p:sp>
        <p:nvSpPr>
          <p:cNvPr id="4" name="TextBox 3"/>
          <p:cNvSpPr txBox="1"/>
          <p:nvPr/>
        </p:nvSpPr>
        <p:spPr>
          <a:xfrm>
            <a:off x="3749039" y="146304"/>
            <a:ext cx="8046720" cy="429895"/>
          </a:xfrm>
          <a:prstGeom prst="rect">
            <a:avLst/>
          </a:prstGeom>
          <a:noFill/>
        </p:spPr>
        <p:txBody>
          <a:bodyPr wrap="square">
            <a:spAutoFit/>
          </a:bodyPr>
          <a:lstStyle/>
          <a:p>
            <a:pPr algn="r"/>
            <a:r>
              <a:rPr lang="en-US" sz="2200" b="1">
                <a:solidFill>
                  <a:srgbClr val="366092"/>
                </a:solidFill>
                <a:latin typeface="Calibri" panose="020F0502020204030204"/>
                <a:ea typeface="微软雅黑" panose="020B0503020204020204" charset="-122"/>
                <a:cs typeface="Calibri" panose="020F0502020204030204"/>
              </a:rPr>
              <a:t> 2 of 2</a:t>
            </a:r>
            <a:endParaRPr lang="en-US" sz="2200" b="1">
              <a:solidFill>
                <a:srgbClr val="366092"/>
              </a:solidFill>
              <a:latin typeface="Calibri" panose="020F0502020204030204"/>
              <a:ea typeface="微软雅黑" panose="020B0503020204020204" charset="-122"/>
              <a:cs typeface="Calibri" panose="020F0502020204030204"/>
            </a:endParaRPr>
          </a:p>
        </p:txBody>
      </p:sp>
      <p:sp>
        <p:nvSpPr>
          <p:cNvPr id="5" name="Rectangle 4"/>
          <p:cNvSpPr/>
          <p:nvPr/>
        </p:nvSpPr>
        <p:spPr>
          <a:xfrm>
            <a:off x="0" y="6565392"/>
            <a:ext cx="12191695" cy="2926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83680"/>
            <a:ext cx="11430000" cy="237744"/>
          </a:xfrm>
          <a:prstGeom prst="rect">
            <a:avLst/>
          </a:prstGeom>
          <a:noFill/>
        </p:spPr>
        <p:txBody>
          <a:bodyPr wrap="none">
            <a:spAutoFit/>
          </a:bodyPr>
          <a:lstStyle/>
          <a:p>
            <a:pPr algn="r"/>
            <a:r>
              <a:rPr lang="en-US" sz="1100" b="0">
                <a:solidFill>
                  <a:srgbClr val="FFFFFF"/>
                </a:solidFill>
                <a:latin typeface="Calibri" panose="020F0502020204030204"/>
                <a:ea typeface="微软雅黑" panose="020B0503020204020204" charset="-122"/>
                <a:cs typeface="Calibri" panose="020F0502020204030204"/>
              </a:rPr>
              <a:t>Confidential</a:t>
            </a:r>
            <a:endParaRPr lang="en-US" sz="1100" b="0">
              <a:solidFill>
                <a:srgbClr val="FFFFFF"/>
              </a:solidFill>
              <a:latin typeface="Calibri" panose="020F0502020204030204"/>
              <a:ea typeface="微软雅黑" panose="020B0503020204020204" charset="-122"/>
              <a:cs typeface="Calibri" panose="020F0502020204030204"/>
            </a:endParaRPr>
          </a:p>
        </p:txBody>
      </p:sp>
      <p:sp>
        <p:nvSpPr>
          <p:cNvPr id="7" name="Rounded Rectangle 6"/>
          <p:cNvSpPr/>
          <p:nvPr/>
        </p:nvSpPr>
        <p:spPr>
          <a:xfrm>
            <a:off x="384048" y="841248"/>
            <a:ext cx="11430000" cy="1691640"/>
          </a:xfrm>
          <a:prstGeom prst="roundRect">
            <a:avLst>
              <a:gd name="adj" fmla="val 8000"/>
            </a:avLst>
          </a:prstGeom>
          <a:solidFill>
            <a:srgbClr val="F3F6FB"/>
          </a:solidFill>
          <a:ln w="9525">
            <a:solidFill>
              <a:srgbClr val="8EA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8" name="Oval 7"/>
          <p:cNvSpPr/>
          <p:nvPr/>
        </p:nvSpPr>
        <p:spPr>
          <a:xfrm>
            <a:off x="493776" y="950976"/>
            <a:ext cx="329184" cy="329184"/>
          </a:xfrm>
          <a:prstGeom prst="ellipse">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600" b="1">
                <a:solidFill>
                  <a:srgbClr val="FFFFFF"/>
                </a:solidFill>
                <a:latin typeface="Calibri" panose="020F0502020204030204"/>
                <a:ea typeface="微软雅黑" panose="020B0503020204020204" charset="-122"/>
                <a:cs typeface="Calibri" panose="020F0502020204030204"/>
              </a:rPr>
              <a:t>5</a:t>
            </a:r>
            <a:endParaRPr lang="en-US" sz="1600" b="1">
              <a:solidFill>
                <a:srgbClr val="FFFFFF"/>
              </a:solidFill>
              <a:latin typeface="Calibri" panose="020F0502020204030204"/>
              <a:ea typeface="微软雅黑" panose="020B0503020204020204" charset="-122"/>
              <a:cs typeface="Calibri" panose="020F0502020204030204"/>
            </a:endParaRPr>
          </a:p>
        </p:txBody>
      </p:sp>
      <p:sp>
        <p:nvSpPr>
          <p:cNvPr id="9" name="TextBox 8"/>
          <p:cNvSpPr txBox="1"/>
          <p:nvPr/>
        </p:nvSpPr>
        <p:spPr>
          <a:xfrm>
            <a:off x="896112" y="932688"/>
            <a:ext cx="10789920" cy="368300"/>
          </a:xfrm>
          <a:prstGeom prst="rect">
            <a:avLst/>
          </a:prstGeom>
          <a:noFill/>
        </p:spPr>
        <p:txBody>
          <a:bodyPr wrap="square">
            <a:spAutoFit/>
          </a:bodyPr>
          <a:lstStyle/>
          <a:p>
            <a:r>
              <a:rPr lang="en-US" b="1">
                <a:solidFill>
                  <a:srgbClr val="366092"/>
                </a:solidFill>
                <a:latin typeface="Calibri" panose="020F0502020204030204"/>
                <a:ea typeface="微软雅黑" panose="020B0503020204020204" charset="-122"/>
                <a:cs typeface="Calibri" panose="020F0502020204030204"/>
              </a:rPr>
              <a:t>Connect to the filter-dryer (AFD) if possible</a:t>
            </a:r>
            <a:endParaRPr lang="en-US" b="1">
              <a:solidFill>
                <a:srgbClr val="366092"/>
              </a:solidFill>
              <a:latin typeface="Calibri" panose="020F0502020204030204"/>
              <a:ea typeface="微软雅黑" panose="020B0503020204020204" charset="-122"/>
              <a:cs typeface="Calibri" panose="020F0502020204030204"/>
            </a:endParaRPr>
          </a:p>
        </p:txBody>
      </p:sp>
      <p:sp>
        <p:nvSpPr>
          <p:cNvPr id="10" name="TextBox 9"/>
          <p:cNvSpPr txBox="1"/>
          <p:nvPr/>
        </p:nvSpPr>
        <p:spPr>
          <a:xfrm>
            <a:off x="530352" y="1280160"/>
            <a:ext cx="11173968" cy="881380"/>
          </a:xfrm>
          <a:prstGeom prst="rect">
            <a:avLst/>
          </a:prstGeom>
          <a:noFill/>
        </p:spPr>
        <p:txBody>
          <a:bodyPr wrap="square">
            <a:spAutoFit/>
          </a:bodyPr>
          <a:lstStyle/>
          <a:p>
            <a:pPr algn="l">
              <a:spcAft>
                <a:spcPts val="400"/>
              </a:spcAft>
            </a:pPr>
            <a:r>
              <a:rPr lang="en-US" sz="1600" b="0">
                <a:solidFill>
                  <a:srgbClr val="222222"/>
                </a:solidFill>
                <a:latin typeface="Calibri" panose="020F0502020204030204"/>
                <a:ea typeface="微软雅黑" panose="020B0503020204020204" charset="-122"/>
                <a:cs typeface="Calibri" panose="020F0502020204030204"/>
              </a:rPr>
              <a:t>1. Current vertical headroom does not allow a direct connection.</a:t>
            </a:r>
            <a:endParaRPr lang="en-US" sz="1600" b="0">
              <a:solidFill>
                <a:srgbClr val="222222"/>
              </a:solidFill>
              <a:latin typeface="Calibri" panose="020F0502020204030204"/>
              <a:ea typeface="微软雅黑" panose="020B0503020204020204" charset="-122"/>
              <a:cs typeface="Calibri" panose="020F0502020204030204"/>
            </a:endParaRPr>
          </a:p>
          <a:p>
            <a:pPr algn="l">
              <a:spcAft>
                <a:spcPts val="400"/>
              </a:spcAft>
            </a:pPr>
            <a:r>
              <a:rPr lang="en-US" sz="1600" b="0">
                <a:solidFill>
                  <a:srgbClr val="222222"/>
                </a:solidFill>
                <a:latin typeface="Calibri" panose="020F0502020204030204"/>
                <a:ea typeface="微软雅黑" panose="020B0503020204020204" charset="-122"/>
                <a:cs typeface="Calibri" panose="020F0502020204030204"/>
              </a:rPr>
              <a:t>2. Planned transfer: </a:t>
            </a:r>
            <a:r>
              <a:rPr lang="en-US" sz="1600" b="0">
                <a:solidFill>
                  <a:srgbClr val="222222"/>
                </a:solidFill>
                <a:latin typeface="Calibri" panose="020F0502020204030204"/>
                <a:ea typeface="微软雅黑" panose="020B0503020204020204" charset="-122"/>
                <a:cs typeface="Calibri" panose="020F0502020204030204"/>
              </a:rPr>
              <a:t>AFD discharge → </a:t>
            </a:r>
            <a:r>
              <a:rPr lang="en-US" altLang="en-US" sz="1600" b="0">
                <a:solidFill>
                  <a:srgbClr val="222222"/>
                </a:solidFill>
                <a:latin typeface="Calibri" panose="020F0502020204030204"/>
                <a:ea typeface="微软雅黑" panose="020B0503020204020204" charset="-122"/>
                <a:cs typeface="Calibri" panose="020F0502020204030204"/>
              </a:rPr>
              <a:t>Flexible Intermediate Bulk Container (</a:t>
            </a:r>
            <a:r>
              <a:rPr lang="en-US" sz="1600" b="0">
                <a:solidFill>
                  <a:srgbClr val="222222"/>
                </a:solidFill>
                <a:latin typeface="Calibri" panose="020F0502020204030204"/>
                <a:ea typeface="微软雅黑" panose="020B0503020204020204" charset="-122"/>
                <a:cs typeface="Calibri" panose="020F0502020204030204"/>
              </a:rPr>
              <a:t>FIBC) or single-use charging bag → sifter inlet. See the flow diagram.</a:t>
            </a:r>
            <a:endParaRPr lang="en-US" sz="1600" b="0">
              <a:solidFill>
                <a:srgbClr val="222222"/>
              </a:solidFill>
              <a:latin typeface="Calibri" panose="020F0502020204030204"/>
              <a:ea typeface="微软雅黑" panose="020B0503020204020204" charset="-122"/>
              <a:cs typeface="Calibri" panose="020F0502020204030204"/>
            </a:endParaRPr>
          </a:p>
        </p:txBody>
      </p:sp>
      <p:sp>
        <p:nvSpPr>
          <p:cNvPr id="11" name="Rounded Rectangle 10"/>
          <p:cNvSpPr/>
          <p:nvPr/>
        </p:nvSpPr>
        <p:spPr>
          <a:xfrm>
            <a:off x="384048" y="2660904"/>
            <a:ext cx="11430000" cy="1691640"/>
          </a:xfrm>
          <a:prstGeom prst="roundRect">
            <a:avLst>
              <a:gd name="adj" fmla="val 8000"/>
            </a:avLst>
          </a:prstGeom>
          <a:solidFill>
            <a:srgbClr val="F3F6FB"/>
          </a:solidFill>
          <a:ln w="9525">
            <a:solidFill>
              <a:srgbClr val="8EA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2" name="Oval 11"/>
          <p:cNvSpPr/>
          <p:nvPr/>
        </p:nvSpPr>
        <p:spPr>
          <a:xfrm>
            <a:off x="493776" y="2770632"/>
            <a:ext cx="329184" cy="329184"/>
          </a:xfrm>
          <a:prstGeom prst="ellipse">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600" b="1">
                <a:solidFill>
                  <a:srgbClr val="FFFFFF"/>
                </a:solidFill>
                <a:latin typeface="Calibri" panose="020F0502020204030204"/>
                <a:ea typeface="微软雅黑" panose="020B0503020204020204" charset="-122"/>
                <a:cs typeface="Calibri" panose="020F0502020204030204"/>
              </a:rPr>
              <a:t>6</a:t>
            </a:r>
            <a:endParaRPr lang="en-US" sz="1600" b="1">
              <a:solidFill>
                <a:srgbClr val="FFFFFF"/>
              </a:solidFill>
              <a:latin typeface="Calibri" panose="020F0502020204030204"/>
              <a:ea typeface="微软雅黑" panose="020B0503020204020204" charset="-122"/>
              <a:cs typeface="Calibri" panose="020F0502020204030204"/>
            </a:endParaRPr>
          </a:p>
        </p:txBody>
      </p:sp>
      <p:sp>
        <p:nvSpPr>
          <p:cNvPr id="13" name="TextBox 12"/>
          <p:cNvSpPr txBox="1"/>
          <p:nvPr/>
        </p:nvSpPr>
        <p:spPr>
          <a:xfrm>
            <a:off x="896112" y="2752344"/>
            <a:ext cx="10789920" cy="368300"/>
          </a:xfrm>
          <a:prstGeom prst="rect">
            <a:avLst/>
          </a:prstGeom>
          <a:noFill/>
        </p:spPr>
        <p:txBody>
          <a:bodyPr wrap="square">
            <a:spAutoFit/>
          </a:bodyPr>
          <a:lstStyle/>
          <a:p>
            <a:r>
              <a:rPr lang="en-US" b="1">
                <a:solidFill>
                  <a:srgbClr val="366092"/>
                </a:solidFill>
                <a:latin typeface="Calibri" panose="020F0502020204030204"/>
                <a:ea typeface="微软雅黑" panose="020B0503020204020204" charset="-122"/>
                <a:cs typeface="Calibri" panose="020F0502020204030204"/>
              </a:rPr>
              <a:t>The mill / sifter does not look suitable for a clean area</a:t>
            </a:r>
            <a:endParaRPr lang="en-US" b="1">
              <a:solidFill>
                <a:srgbClr val="366092"/>
              </a:solidFill>
              <a:latin typeface="Calibri" panose="020F0502020204030204"/>
              <a:ea typeface="微软雅黑" panose="020B0503020204020204" charset="-122"/>
              <a:cs typeface="Calibri" panose="020F0502020204030204"/>
            </a:endParaRPr>
          </a:p>
        </p:txBody>
      </p:sp>
      <p:sp>
        <p:nvSpPr>
          <p:cNvPr id="14" name="TextBox 13"/>
          <p:cNvSpPr txBox="1"/>
          <p:nvPr/>
        </p:nvSpPr>
        <p:spPr>
          <a:xfrm>
            <a:off x="530352" y="3099816"/>
            <a:ext cx="11173968" cy="583565"/>
          </a:xfrm>
          <a:prstGeom prst="rect">
            <a:avLst/>
          </a:prstGeom>
          <a:noFill/>
        </p:spPr>
        <p:txBody>
          <a:bodyPr wrap="square">
            <a:spAutoFit/>
          </a:bodyPr>
          <a:lstStyle/>
          <a:p>
            <a:pPr algn="l">
              <a:spcAft>
                <a:spcPts val="400"/>
              </a:spcAft>
            </a:pPr>
            <a:r>
              <a:rPr lang="en-US" sz="1600" b="0">
                <a:solidFill>
                  <a:srgbClr val="222222"/>
                </a:solidFill>
                <a:latin typeface="Calibri" panose="020F0502020204030204"/>
                <a:ea typeface="微软雅黑" panose="020B0503020204020204" charset="-122"/>
                <a:cs typeface="Calibri" panose="020F0502020204030204"/>
              </a:rPr>
              <a:t>The sifter includes feed and discharge control, oxygen monitoring, and weighment, so the electrical cabinet is large. The design will be optimized later.</a:t>
            </a:r>
            <a:endParaRPr lang="en-US" sz="1600" b="0">
              <a:solidFill>
                <a:srgbClr val="222222"/>
              </a:solidFill>
              <a:latin typeface="Calibri" panose="020F0502020204030204"/>
              <a:ea typeface="微软雅黑" panose="020B0503020204020204" charset="-122"/>
              <a:cs typeface="Calibri" panose="020F0502020204030204"/>
            </a:endParaRPr>
          </a:p>
        </p:txBody>
      </p:sp>
      <p:sp>
        <p:nvSpPr>
          <p:cNvPr id="15" name="Rounded Rectangle 14"/>
          <p:cNvSpPr/>
          <p:nvPr/>
        </p:nvSpPr>
        <p:spPr>
          <a:xfrm>
            <a:off x="384048" y="4480560"/>
            <a:ext cx="11430000" cy="1691640"/>
          </a:xfrm>
          <a:prstGeom prst="roundRect">
            <a:avLst>
              <a:gd name="adj" fmla="val 8000"/>
            </a:avLst>
          </a:prstGeom>
          <a:solidFill>
            <a:srgbClr val="F3F6FB"/>
          </a:solidFill>
          <a:ln w="9525">
            <a:solidFill>
              <a:srgbClr val="8EA9D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000"/>
          </a:p>
        </p:txBody>
      </p:sp>
      <p:sp>
        <p:nvSpPr>
          <p:cNvPr id="16" name="Oval 15"/>
          <p:cNvSpPr/>
          <p:nvPr/>
        </p:nvSpPr>
        <p:spPr>
          <a:xfrm>
            <a:off x="493776" y="4590288"/>
            <a:ext cx="329184" cy="329184"/>
          </a:xfrm>
          <a:prstGeom prst="ellipse">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wrap="none" rtlCol="0" anchor="ctr"/>
          <a:lstStyle/>
          <a:p>
            <a:pPr algn="ctr"/>
            <a:r>
              <a:rPr lang="en-US" sz="1600" b="1">
                <a:solidFill>
                  <a:srgbClr val="FFFFFF"/>
                </a:solidFill>
                <a:latin typeface="Calibri" panose="020F0502020204030204"/>
                <a:ea typeface="微软雅黑" panose="020B0503020204020204" charset="-122"/>
                <a:cs typeface="Calibri" panose="020F0502020204030204"/>
              </a:rPr>
              <a:t>7</a:t>
            </a:r>
            <a:endParaRPr lang="en-US" sz="1600" b="1">
              <a:solidFill>
                <a:srgbClr val="FFFFFF"/>
              </a:solidFill>
              <a:latin typeface="Calibri" panose="020F0502020204030204"/>
              <a:ea typeface="微软雅黑" panose="020B0503020204020204" charset="-122"/>
              <a:cs typeface="Calibri" panose="020F0502020204030204"/>
            </a:endParaRPr>
          </a:p>
        </p:txBody>
      </p:sp>
      <p:sp>
        <p:nvSpPr>
          <p:cNvPr id="17" name="TextBox 16"/>
          <p:cNvSpPr txBox="1"/>
          <p:nvPr/>
        </p:nvSpPr>
        <p:spPr>
          <a:xfrm>
            <a:off x="896112" y="4572000"/>
            <a:ext cx="10789920" cy="368300"/>
          </a:xfrm>
          <a:prstGeom prst="rect">
            <a:avLst/>
          </a:prstGeom>
          <a:noFill/>
        </p:spPr>
        <p:txBody>
          <a:bodyPr wrap="square">
            <a:spAutoFit/>
          </a:bodyPr>
          <a:lstStyle/>
          <a:p>
            <a:r>
              <a:rPr lang="en-US" b="1">
                <a:solidFill>
                  <a:srgbClr val="366092"/>
                </a:solidFill>
                <a:latin typeface="Calibri" panose="020F0502020204030204"/>
                <a:ea typeface="微软雅黑" panose="020B0503020204020204" charset="-122"/>
                <a:cs typeface="Calibri" panose="020F0502020204030204"/>
              </a:rPr>
              <a:t>P&amp;ID: can it be cleaned, and is it sanitary?</a:t>
            </a:r>
            <a:endParaRPr lang="en-US" b="1">
              <a:solidFill>
                <a:srgbClr val="366092"/>
              </a:solidFill>
              <a:latin typeface="Calibri" panose="020F0502020204030204"/>
              <a:ea typeface="微软雅黑" panose="020B0503020204020204" charset="-122"/>
              <a:cs typeface="Calibri" panose="020F0502020204030204"/>
            </a:endParaRPr>
          </a:p>
        </p:txBody>
      </p:sp>
      <p:sp>
        <p:nvSpPr>
          <p:cNvPr id="18" name="TextBox 17"/>
          <p:cNvSpPr txBox="1"/>
          <p:nvPr/>
        </p:nvSpPr>
        <p:spPr>
          <a:xfrm>
            <a:off x="530352" y="4919472"/>
            <a:ext cx="11173968" cy="583565"/>
          </a:xfrm>
          <a:prstGeom prst="rect">
            <a:avLst/>
          </a:prstGeom>
          <a:noFill/>
        </p:spPr>
        <p:txBody>
          <a:bodyPr wrap="square">
            <a:spAutoFit/>
          </a:bodyPr>
          <a:lstStyle/>
          <a:p>
            <a:pPr algn="l">
              <a:spcAft>
                <a:spcPts val="400"/>
              </a:spcAft>
            </a:pPr>
            <a:r>
              <a:rPr lang="en-US" sz="1600" b="0">
                <a:solidFill>
                  <a:srgbClr val="222222"/>
                </a:solidFill>
                <a:latin typeface="Calibri" panose="020F0502020204030204"/>
                <a:ea typeface="微软雅黑" panose="020B0503020204020204" charset="-122"/>
                <a:cs typeface="Calibri" panose="020F0502020204030204"/>
              </a:rPr>
              <a:t>No automatic CIP. The unit can be stripped and cleaned manually. Product-contact metal is 316L; seals are PTFE. These materials meet cleanliness requirements.</a:t>
            </a:r>
            <a:endParaRPr lang="en-US" sz="1600" b="0">
              <a:solidFill>
                <a:srgbClr val="222222"/>
              </a:solidFill>
              <a:latin typeface="Calibri" panose="020F0502020204030204"/>
              <a:ea typeface="微软雅黑" panose="020B0503020204020204" charset="-122"/>
              <a:cs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658368"/>
            <a:ext cx="12191695" cy="12700"/>
          </a:xfrm>
          <a:prstGeom prst="rect">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1"/>
          <a:stretch>
            <a:fillRect/>
          </a:stretch>
        </p:blipFill>
        <p:spPr>
          <a:xfrm>
            <a:off x="347472" y="146304"/>
            <a:ext cx="1933042" cy="384048"/>
          </a:xfrm>
          <a:prstGeom prst="rect">
            <a:avLst/>
          </a:prstGeom>
        </p:spPr>
      </p:pic>
      <p:sp>
        <p:nvSpPr>
          <p:cNvPr id="4" name="TextBox 3"/>
          <p:cNvSpPr txBox="1"/>
          <p:nvPr/>
        </p:nvSpPr>
        <p:spPr>
          <a:xfrm>
            <a:off x="3749039" y="146304"/>
            <a:ext cx="8046720" cy="438912"/>
          </a:xfrm>
          <a:prstGeom prst="rect">
            <a:avLst/>
          </a:prstGeom>
          <a:noFill/>
        </p:spPr>
        <p:txBody>
          <a:bodyPr wrap="square">
            <a:spAutoFit/>
          </a:bodyPr>
          <a:lstStyle/>
          <a:p>
            <a:pPr algn="r"/>
            <a:r>
              <a:rPr lang="en-US" sz="2200" b="1">
                <a:solidFill>
                  <a:srgbClr val="366092"/>
                </a:solidFill>
                <a:latin typeface="Calibri" panose="020F0502020204030204"/>
                <a:ea typeface="微软雅黑" panose="020B0503020204020204" charset="-122"/>
                <a:cs typeface="Calibri" panose="020F0502020204030204"/>
              </a:rPr>
              <a:t>Function ports</a:t>
            </a:r>
            <a:endParaRPr lang="en-US" sz="2200" b="1">
              <a:solidFill>
                <a:srgbClr val="366092"/>
              </a:solidFill>
              <a:latin typeface="Calibri" panose="020F0502020204030204"/>
              <a:ea typeface="微软雅黑" panose="020B0503020204020204" charset="-122"/>
              <a:cs typeface="Calibri" panose="020F0502020204030204"/>
            </a:endParaRPr>
          </a:p>
        </p:txBody>
      </p:sp>
      <p:sp>
        <p:nvSpPr>
          <p:cNvPr id="5" name="Rectangle 4"/>
          <p:cNvSpPr/>
          <p:nvPr/>
        </p:nvSpPr>
        <p:spPr>
          <a:xfrm>
            <a:off x="0" y="6565392"/>
            <a:ext cx="12191695" cy="2926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83680"/>
            <a:ext cx="11430000" cy="237744"/>
          </a:xfrm>
          <a:prstGeom prst="rect">
            <a:avLst/>
          </a:prstGeom>
          <a:noFill/>
        </p:spPr>
        <p:txBody>
          <a:bodyPr wrap="none">
            <a:spAutoFit/>
          </a:bodyPr>
          <a:lstStyle/>
          <a:p>
            <a:pPr algn="r"/>
            <a:r>
              <a:rPr lang="en-US" sz="1100" b="0">
                <a:solidFill>
                  <a:srgbClr val="FFFFFF"/>
                </a:solidFill>
                <a:latin typeface="Calibri" panose="020F0502020204030204"/>
                <a:ea typeface="微软雅黑" panose="020B0503020204020204" charset="-122"/>
                <a:cs typeface="Calibri" panose="020F0502020204030204"/>
              </a:rPr>
              <a:t>Confidential</a:t>
            </a:r>
            <a:endParaRPr lang="en-US" sz="1100" b="0">
              <a:solidFill>
                <a:srgbClr val="FFFFFF"/>
              </a:solidFill>
              <a:latin typeface="Calibri" panose="020F0502020204030204"/>
              <a:ea typeface="微软雅黑" panose="020B0503020204020204" charset="-122"/>
              <a:cs typeface="Calibri" panose="020F0502020204030204"/>
            </a:endParaRPr>
          </a:p>
        </p:txBody>
      </p:sp>
      <p:sp>
        <p:nvSpPr>
          <p:cNvPr id="8" name="TextBox 7"/>
          <p:cNvSpPr txBox="1"/>
          <p:nvPr/>
        </p:nvSpPr>
        <p:spPr>
          <a:xfrm>
            <a:off x="7040880" y="832485"/>
            <a:ext cx="4800600" cy="337820"/>
          </a:xfrm>
          <a:prstGeom prst="rect">
            <a:avLst/>
          </a:prstGeom>
          <a:noFill/>
        </p:spPr>
        <p:txBody>
          <a:bodyPr wrap="square" anchor="t"/>
          <a:lstStyle/>
          <a:p>
            <a:pPr algn="l"/>
            <a:r>
              <a:rPr lang="en-US" sz="1600" b="1">
                <a:solidFill>
                  <a:srgbClr val="366092"/>
                </a:solidFill>
                <a:latin typeface="Calibri" panose="020F0502020204030204"/>
                <a:ea typeface="微软雅黑" panose="020B0503020204020204" charset="-122"/>
                <a:cs typeface="Calibri" panose="020F0502020204030204"/>
              </a:rPr>
              <a:t>English key to the drawing</a:t>
            </a:r>
            <a:endParaRPr lang="en-US" sz="1600" b="1">
              <a:solidFill>
                <a:srgbClr val="366092"/>
              </a:solidFill>
              <a:latin typeface="Calibri" panose="020F0502020204030204"/>
              <a:ea typeface="微软雅黑" panose="020B0503020204020204" charset="-122"/>
              <a:cs typeface="Calibri" panose="020F0502020204030204"/>
            </a:endParaRPr>
          </a:p>
        </p:txBody>
      </p:sp>
      <p:graphicFrame>
        <p:nvGraphicFramePr>
          <p:cNvPr id="9" name="Table 8"/>
          <p:cNvGraphicFramePr>
            <a:graphicFrameLocks noGrp="1"/>
          </p:cNvGraphicFramePr>
          <p:nvPr/>
        </p:nvGraphicFramePr>
        <p:xfrm>
          <a:off x="6995160" y="1408430"/>
          <a:ext cx="4800600" cy="3017520"/>
        </p:xfrm>
        <a:graphic>
          <a:graphicData uri="http://schemas.openxmlformats.org/drawingml/2006/table">
            <a:tbl>
              <a:tblPr firstRow="1" bandRow="1">
                <a:tableStyleId>{5C22544A-7EE6-4342-B048-85BDC9FD1C3A}</a:tableStyleId>
              </a:tblPr>
              <a:tblGrid>
                <a:gridCol w="2208530"/>
                <a:gridCol w="2592070"/>
              </a:tblGrid>
              <a:tr h="274320">
                <a:tc>
                  <a:txBody>
                    <a:bodyPr/>
                    <a:lstStyle/>
                    <a:p>
                      <a:pPr algn="l"/>
                      <a:r>
                        <a:rPr lang="en-US" sz="1200" b="1">
                          <a:solidFill>
                            <a:srgbClr val="FFFFFF"/>
                          </a:solidFill>
                          <a:latin typeface="Calibri" panose="020F0502020204030204"/>
                          <a:ea typeface="微软雅黑" panose="020B0503020204020204" charset="-122"/>
                          <a:cs typeface="Calibri" panose="020F0502020204030204"/>
                        </a:rPr>
                        <a:t>On the drawing</a:t>
                      </a:r>
                      <a:endParaRPr lang="en-US" sz="1200" b="1">
                        <a:solidFill>
                          <a:srgbClr val="FFFFFF"/>
                        </a:solidFill>
                        <a:latin typeface="Calibri" panose="020F0502020204030204"/>
                        <a:ea typeface="微软雅黑" panose="020B0503020204020204" charset="-122"/>
                        <a:cs typeface="Calibri" panose="020F0502020204030204"/>
                      </a:endParaRPr>
                    </a:p>
                  </a:txBody>
                  <a:tcPr anchor="ctr">
                    <a:solidFill>
                      <a:srgbClr val="366092"/>
                    </a:solidFill>
                  </a:tcPr>
                </a:tc>
                <a:tc>
                  <a:txBody>
                    <a:bodyPr/>
                    <a:lstStyle/>
                    <a:p>
                      <a:pPr algn="l"/>
                      <a:r>
                        <a:rPr lang="en-US" sz="1200" b="1">
                          <a:solidFill>
                            <a:srgbClr val="FFFFFF"/>
                          </a:solidFill>
                          <a:latin typeface="Calibri" panose="020F0502020204030204"/>
                          <a:ea typeface="微软雅黑" panose="020B0503020204020204" charset="-122"/>
                          <a:cs typeface="Calibri" panose="020F0502020204030204"/>
                        </a:rPr>
                        <a:t>English</a:t>
                      </a:r>
                      <a:endParaRPr lang="en-US" sz="1200" b="1">
                        <a:solidFill>
                          <a:srgbClr val="FFFFFF"/>
                        </a:solidFill>
                        <a:latin typeface="Calibri" panose="020F0502020204030204"/>
                        <a:ea typeface="微软雅黑" panose="020B0503020204020204" charset="-122"/>
                        <a:cs typeface="Calibri" panose="020F0502020204030204"/>
                      </a:endParaRPr>
                    </a:p>
                  </a:txBody>
                  <a:tcPr anchor="ctr">
                    <a:solidFill>
                      <a:srgbClr val="366092"/>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固体加料口</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Solids feed</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预留口</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Spare port</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氧含量检测器</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Oxygen analyzer</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氮气进口</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Nitrogen inlet</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粗料出口</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Coarse / overs outlet</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气动阀（角度定位）</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Pneumatic valve (indexed)</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连续套袋</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Continuous liner</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细料出口</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Fines outlet</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防爆控制柜 / 自动停机</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XP cabinet / auto-stop</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FFFFF"/>
                    </a:solidFill>
                  </a:tcPr>
                </a:tc>
              </a:tr>
              <a:tr h="274320">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平台秤</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c>
                  <a:txBody>
                    <a:bodyPr/>
                    <a:lstStyle/>
                    <a:p>
                      <a:pPr algn="l"/>
                      <a:r>
                        <a:rPr lang="en-US" sz="1200" b="0">
                          <a:solidFill>
                            <a:srgbClr val="222222"/>
                          </a:solidFill>
                          <a:latin typeface="Calibri" panose="020F0502020204030204"/>
                          <a:ea typeface="微软雅黑" panose="020B0503020204020204" charset="-122"/>
                          <a:cs typeface="Calibri" panose="020F0502020204030204"/>
                        </a:rPr>
                        <a:t>Platform scale</a:t>
                      </a:r>
                      <a:endParaRPr lang="en-US" sz="1200" b="0">
                        <a:solidFill>
                          <a:srgbClr val="222222"/>
                        </a:solidFill>
                        <a:latin typeface="Calibri" panose="020F0502020204030204"/>
                        <a:ea typeface="微软雅黑" panose="020B0503020204020204" charset="-122"/>
                        <a:cs typeface="Calibri" panose="020F0502020204030204"/>
                      </a:endParaRPr>
                    </a:p>
                  </a:txBody>
                  <a:tcPr anchor="ctr">
                    <a:solidFill>
                      <a:srgbClr val="F3F6FB"/>
                    </a:solidFill>
                  </a:tcPr>
                </a:tc>
              </a:tr>
            </a:tbl>
          </a:graphicData>
        </a:graphic>
      </p:graphicFrame>
      <p:pic>
        <p:nvPicPr>
          <p:cNvPr id="10" name="图片 2"/>
          <p:cNvPicPr>
            <a:picLocks noChangeAspect="1"/>
          </p:cNvPicPr>
          <p:nvPr/>
        </p:nvPicPr>
        <p:blipFill>
          <a:blip r:embed="rId2"/>
          <a:stretch>
            <a:fillRect/>
          </a:stretch>
        </p:blipFill>
        <p:spPr>
          <a:xfrm>
            <a:off x="595630" y="617855"/>
            <a:ext cx="6027420" cy="59550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658368"/>
            <a:ext cx="12191695" cy="12700"/>
          </a:xfrm>
          <a:prstGeom prst="rect">
            <a:avLst/>
          </a:prstGeom>
          <a:solidFill>
            <a:srgbClr val="3660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1.png"/>
          <p:cNvPicPr>
            <a:picLocks noChangeAspect="1"/>
          </p:cNvPicPr>
          <p:nvPr/>
        </p:nvPicPr>
        <p:blipFill>
          <a:blip r:embed="rId1"/>
          <a:stretch>
            <a:fillRect/>
          </a:stretch>
        </p:blipFill>
        <p:spPr>
          <a:xfrm>
            <a:off x="347472" y="146304"/>
            <a:ext cx="1933042" cy="384048"/>
          </a:xfrm>
          <a:prstGeom prst="rect">
            <a:avLst/>
          </a:prstGeom>
        </p:spPr>
      </p:pic>
      <p:sp>
        <p:nvSpPr>
          <p:cNvPr id="4" name="TextBox 3"/>
          <p:cNvSpPr txBox="1"/>
          <p:nvPr/>
        </p:nvSpPr>
        <p:spPr>
          <a:xfrm>
            <a:off x="3749039" y="146304"/>
            <a:ext cx="8046720" cy="438912"/>
          </a:xfrm>
          <a:prstGeom prst="rect">
            <a:avLst/>
          </a:prstGeom>
          <a:noFill/>
        </p:spPr>
        <p:txBody>
          <a:bodyPr wrap="square">
            <a:spAutoFit/>
          </a:bodyPr>
          <a:lstStyle/>
          <a:p>
            <a:pPr algn="r"/>
            <a:r>
              <a:rPr lang="en-US" sz="2200" b="1">
                <a:solidFill>
                  <a:srgbClr val="366092"/>
                </a:solidFill>
                <a:latin typeface="Calibri" panose="020F0502020204030204"/>
                <a:ea typeface="微软雅黑" panose="020B0503020204020204" charset="-122"/>
                <a:cs typeface="Calibri" panose="020F0502020204030204"/>
              </a:rPr>
              <a:t>Transfer: filter-dryer → sifter</a:t>
            </a:r>
            <a:endParaRPr lang="en-US" sz="2200" b="1">
              <a:solidFill>
                <a:srgbClr val="366092"/>
              </a:solidFill>
              <a:latin typeface="Calibri" panose="020F0502020204030204"/>
              <a:ea typeface="微软雅黑" panose="020B0503020204020204" charset="-122"/>
              <a:cs typeface="Calibri" panose="020F0502020204030204"/>
            </a:endParaRPr>
          </a:p>
        </p:txBody>
      </p:sp>
      <p:sp>
        <p:nvSpPr>
          <p:cNvPr id="5" name="Rectangle 4"/>
          <p:cNvSpPr/>
          <p:nvPr/>
        </p:nvSpPr>
        <p:spPr>
          <a:xfrm>
            <a:off x="0" y="6565392"/>
            <a:ext cx="12191695" cy="292608"/>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83680"/>
            <a:ext cx="11430000" cy="237744"/>
          </a:xfrm>
          <a:prstGeom prst="rect">
            <a:avLst/>
          </a:prstGeom>
          <a:noFill/>
        </p:spPr>
        <p:txBody>
          <a:bodyPr wrap="none">
            <a:spAutoFit/>
          </a:bodyPr>
          <a:lstStyle/>
          <a:p>
            <a:pPr algn="r"/>
            <a:r>
              <a:rPr lang="en-US" sz="1100" b="0">
                <a:solidFill>
                  <a:srgbClr val="FFFFFF"/>
                </a:solidFill>
                <a:latin typeface="Calibri" panose="020F0502020204030204"/>
                <a:ea typeface="微软雅黑" panose="020B0503020204020204" charset="-122"/>
                <a:cs typeface="Calibri" panose="020F0502020204030204"/>
              </a:rPr>
              <a:t>Confidential</a:t>
            </a:r>
            <a:endParaRPr lang="en-US" sz="1100" b="0">
              <a:solidFill>
                <a:srgbClr val="FFFFFF"/>
              </a:solidFill>
              <a:latin typeface="Calibri" panose="020F0502020204030204"/>
              <a:ea typeface="微软雅黑" panose="020B0503020204020204" charset="-122"/>
              <a:cs typeface="Calibri" panose="020F0502020204030204"/>
            </a:endParaRPr>
          </a:p>
        </p:txBody>
      </p:sp>
      <p:sp>
        <p:nvSpPr>
          <p:cNvPr id="8" name="TextBox 7"/>
          <p:cNvSpPr txBox="1"/>
          <p:nvPr/>
        </p:nvSpPr>
        <p:spPr>
          <a:xfrm>
            <a:off x="8731250" y="1918335"/>
            <a:ext cx="3066415" cy="328930"/>
          </a:xfrm>
          <a:prstGeom prst="rect">
            <a:avLst/>
          </a:prstGeom>
          <a:noFill/>
        </p:spPr>
        <p:txBody>
          <a:bodyPr wrap="square" anchor="t"/>
          <a:lstStyle/>
          <a:p>
            <a:pPr algn="l"/>
            <a:r>
              <a:rPr lang="en-US" sz="1600" b="1">
                <a:solidFill>
                  <a:srgbClr val="366092"/>
                </a:solidFill>
                <a:latin typeface="Calibri" panose="020F0502020204030204"/>
                <a:ea typeface="微软雅黑" panose="020B0503020204020204" charset="-122"/>
                <a:cs typeface="Calibri" panose="020F0502020204030204"/>
              </a:rPr>
              <a:t>Intended sequence</a:t>
            </a:r>
            <a:endParaRPr lang="en-US" sz="1600" b="1">
              <a:solidFill>
                <a:srgbClr val="366092"/>
              </a:solidFill>
              <a:latin typeface="Calibri" panose="020F0502020204030204"/>
              <a:ea typeface="微软雅黑" panose="020B0503020204020204" charset="-122"/>
              <a:cs typeface="Calibri" panose="020F0502020204030204"/>
            </a:endParaRPr>
          </a:p>
        </p:txBody>
      </p:sp>
      <p:sp>
        <p:nvSpPr>
          <p:cNvPr id="9" name="TextBox 8"/>
          <p:cNvSpPr txBox="1"/>
          <p:nvPr/>
        </p:nvSpPr>
        <p:spPr>
          <a:xfrm>
            <a:off x="8799195" y="2247265"/>
            <a:ext cx="3175000" cy="3108960"/>
          </a:xfrm>
          <a:prstGeom prst="rect">
            <a:avLst/>
          </a:prstGeom>
          <a:noFill/>
        </p:spPr>
        <p:txBody>
          <a:bodyPr wrap="square" anchor="t"/>
          <a:lstStyle/>
          <a:p>
            <a:pPr algn="l"/>
            <a:r>
              <a:rPr lang="en-US" sz="1500" b="0">
                <a:solidFill>
                  <a:srgbClr val="222222"/>
                </a:solidFill>
                <a:latin typeface="Calibri" panose="020F0502020204030204"/>
                <a:ea typeface="微软雅黑" panose="020B0503020204020204" charset="-122"/>
                <a:cs typeface="Calibri" panose="020F0502020204030204"/>
              </a:rPr>
              <a:t>1. Filter-dryer discharges into a 50 L charging bag, sealed with an αβ valve.
2. The bag is moved to the sifter inlet.
3. The bag is docked to the sifter with an αβ valve and emptied into the solids feed.
4. The sifter sits on a platform scale for bag weighment.</a:t>
            </a:r>
            <a:endParaRPr lang="en-US" sz="1500" b="0">
              <a:solidFill>
                <a:srgbClr val="222222"/>
              </a:solidFill>
              <a:latin typeface="Calibri" panose="020F0502020204030204"/>
              <a:ea typeface="微软雅黑" panose="020B0503020204020204" charset="-122"/>
              <a:cs typeface="Calibri" panose="020F0502020204030204"/>
            </a:endParaRPr>
          </a:p>
        </p:txBody>
      </p:sp>
      <p:pic>
        <p:nvPicPr>
          <p:cNvPr id="12" name="图片 1"/>
          <p:cNvPicPr>
            <a:picLocks noChangeAspect="1"/>
          </p:cNvPicPr>
          <p:nvPr/>
        </p:nvPicPr>
        <p:blipFill>
          <a:blip r:embed="rId2"/>
          <a:stretch>
            <a:fillRect/>
          </a:stretch>
        </p:blipFill>
        <p:spPr>
          <a:xfrm>
            <a:off x="0" y="998855"/>
            <a:ext cx="8618220" cy="536829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2052</Words>
  <Application>WPS Presentation</Application>
  <PresentationFormat>On-screen Show (4:3)</PresentationFormat>
  <Paragraphs>116</Paragraphs>
  <Slides>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5</vt:i4>
      </vt:variant>
    </vt:vector>
  </HeadingPairs>
  <TitlesOfParts>
    <vt:vector size="13" baseType="lpstr">
      <vt:lpstr>Arial</vt:lpstr>
      <vt:lpstr>宋体</vt:lpstr>
      <vt:lpstr>Wingdings</vt:lpstr>
      <vt:lpstr>Arial</vt:lpstr>
      <vt:lpstr>Calibri</vt:lpstr>
      <vt:lpstr>微软雅黑</vt:lpstr>
      <vt:lpstr>Arial Unicode MS</vt:lpstr>
      <vt:lpstr>Office Theme</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李涛</cp:lastModifiedBy>
  <cp:revision>4</cp:revision>
  <dcterms:created xsi:type="dcterms:W3CDTF">2013-01-27T09:14:00Z</dcterms:created>
  <dcterms:modified xsi:type="dcterms:W3CDTF">2026-09-17T08:15:46Z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465F325503154CCDB287ECC81C6139C9_12</vt:lpwstr>
  </property>
</Properties>
</file>