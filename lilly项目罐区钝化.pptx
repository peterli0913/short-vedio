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3" r:id="rId3"/>
  </p:sldMasterIdLst>
  <p:notesMasterIdLst>
    <p:notesMasterId r:id="rId8"/>
  </p:notesMasterIdLst>
  <p:handoutMasterIdLst>
    <p:handoutMasterId r:id="rId9"/>
  </p:handoutMasterIdLst>
  <p:sldIdLst>
    <p:sldId id="1205" r:id="rId4"/>
    <p:sldId id="1207" r:id="rId5"/>
    <p:sldId id="1206" r:id="rId6"/>
    <p:sldId id="120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3" clrIdx="0"/>
  <p:cmAuthor id="2" name="作者" initials="A" lastIdx="1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A9E"/>
    <a:srgbClr val="2E75B6"/>
    <a:srgbClr val="0000FF"/>
    <a:srgbClr val="4A66B1"/>
    <a:srgbClr val="EAEFF7"/>
    <a:srgbClr val="D2DEEF"/>
    <a:srgbClr val="E9EAF1"/>
    <a:srgbClr val="D0D3E3"/>
    <a:srgbClr val="D4E5F7"/>
    <a:srgbClr val="ACC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2233" autoAdjust="0"/>
  </p:normalViewPr>
  <p:slideViewPr>
    <p:cSldViewPr snapToGrid="0">
      <p:cViewPr varScale="1">
        <p:scale>
          <a:sx n="127" d="100"/>
          <a:sy n="127" d="100"/>
        </p:scale>
        <p:origin x="500" y="92"/>
      </p:cViewPr>
      <p:guideLst>
        <p:guide orient="horz" pos="2319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73DE6-786A-4A72-B78D-83AA17E615B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44BEE-D1C4-4570-B094-729A47EA0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CDC9A-6984-4BA9-A7C2-63B67279B178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74AF-E535-49E6-9134-4F99EB81E7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55085" y="1317625"/>
            <a:ext cx="4288155" cy="85502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4211"/>
              </p:ext>
            </p:extLst>
          </p:nvPr>
        </p:nvGraphicFramePr>
        <p:xfrm>
          <a:off x="657855" y="1314452"/>
          <a:ext cx="10413504" cy="3298369"/>
        </p:xfrm>
        <a:graphic>
          <a:graphicData uri="http://schemas.openxmlformats.org/drawingml/2006/table">
            <a:tbl>
              <a:tblPr/>
              <a:tblGrid>
                <a:gridCol w="1216312">
                  <a:extLst>
                    <a:ext uri="{9D8B030D-6E8A-4147-A177-3AD203B41FA5}">
                      <a16:colId xmlns:a16="http://schemas.microsoft.com/office/drawing/2014/main" val="1311632308"/>
                    </a:ext>
                  </a:extLst>
                </a:gridCol>
                <a:gridCol w="1206338">
                  <a:extLst>
                    <a:ext uri="{9D8B030D-6E8A-4147-A177-3AD203B41FA5}">
                      <a16:colId xmlns:a16="http://schemas.microsoft.com/office/drawing/2014/main" val="2607437386"/>
                    </a:ext>
                  </a:extLst>
                </a:gridCol>
                <a:gridCol w="3615970">
                  <a:extLst>
                    <a:ext uri="{9D8B030D-6E8A-4147-A177-3AD203B41FA5}">
                      <a16:colId xmlns:a16="http://schemas.microsoft.com/office/drawing/2014/main" val="250638474"/>
                    </a:ext>
                  </a:extLst>
                </a:gridCol>
                <a:gridCol w="1522175">
                  <a:extLst>
                    <a:ext uri="{9D8B030D-6E8A-4147-A177-3AD203B41FA5}">
                      <a16:colId xmlns:a16="http://schemas.microsoft.com/office/drawing/2014/main" val="2233665081"/>
                    </a:ext>
                  </a:extLst>
                </a:gridCol>
                <a:gridCol w="1357911">
                  <a:extLst>
                    <a:ext uri="{9D8B030D-6E8A-4147-A177-3AD203B41FA5}">
                      <a16:colId xmlns:a16="http://schemas.microsoft.com/office/drawing/2014/main" val="2392644303"/>
                    </a:ext>
                  </a:extLst>
                </a:gridCol>
                <a:gridCol w="1494798">
                  <a:extLst>
                    <a:ext uri="{9D8B030D-6E8A-4147-A177-3AD203B41FA5}">
                      <a16:colId xmlns:a16="http://schemas.microsoft.com/office/drawing/2014/main" val="1568771206"/>
                    </a:ext>
                  </a:extLst>
                </a:gridCol>
              </a:tblGrid>
              <a:tr h="39382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项目涉及罐区溶剂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使用时间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罐区储罐个数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单个储罐体积（</a:t>
                      </a: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m³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985851"/>
                  </a:ext>
                </a:extLst>
              </a:tr>
              <a:tr h="4101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DMF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11/12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号楼公用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140019/140020/140021/139788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308970"/>
                  </a:ext>
                </a:extLst>
              </a:tr>
              <a:tr h="41014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哌啶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11/12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号楼公用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985456"/>
                  </a:ext>
                </a:extLst>
              </a:tr>
              <a:tr h="41014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甲叔醚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11/12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号楼公用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871004"/>
                  </a:ext>
                </a:extLst>
              </a:tr>
              <a:tr h="21345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乙酸异丙酯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140019/140020/140021step1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623742"/>
                  </a:ext>
                </a:extLst>
              </a:tr>
              <a:tr h="21345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甲苯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140019step2/140020step2/139788step1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890964"/>
                  </a:ext>
                </a:extLst>
              </a:tr>
              <a:tr h="41014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制备乙腈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11/12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号楼公用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140021/139788step1/139788step3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229246"/>
                  </a:ext>
                </a:extLst>
              </a:tr>
              <a:tr h="21345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正庚烷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140019step2/140020step2/140021step2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884370"/>
                  </a:ext>
                </a:extLst>
              </a:tr>
              <a:tr h="21345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乙酸乙酯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140020step2/140021step2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263364"/>
                  </a:ext>
                </a:extLst>
              </a:tr>
              <a:tr h="4101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2-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甲基四氢呋喃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140021step3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470344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92149" y="4665083"/>
            <a:ext cx="106325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Lilly</a:t>
            </a:r>
            <a:r>
              <a:rPr lang="zh-CN" altLang="en-US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项目专用的溶剂可排空进行钝化（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5*30m³</a:t>
            </a:r>
            <a:r>
              <a:rPr lang="zh-CN" altLang="en-US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11/12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号楼公用的溶剂储罐和管道，为尽量减小对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号楼项目（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5104/9166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等）项目影响需做调整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哌啶</a:t>
            </a:r>
            <a:r>
              <a:rPr lang="en-US" altLang="zh-CN" sz="16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甲叔醚：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lilly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项目不使用罐区溶剂，后续均使用桶装溶剂进行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乙腈：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楼有单独管路可进行排空钝化（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30m³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i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6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需要做管路改造，见下页</a:t>
            </a:r>
            <a:endParaRPr lang="en-US" altLang="zh-CN" sz="16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90415" y="492309"/>
            <a:ext cx="43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828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1" dirty="0" smtClean="0">
                <a:solidFill>
                  <a:prstClr val="black"/>
                </a:solidFill>
                <a:latin typeface="Arial"/>
                <a:ea typeface="微软雅黑"/>
              </a:rPr>
              <a:t>Lilly</a:t>
            </a:r>
            <a:r>
              <a:rPr lang="zh-CN" altLang="en-US" sz="2000" b="1" i="1" dirty="0" smtClean="0">
                <a:solidFill>
                  <a:prstClr val="black"/>
                </a:solidFill>
                <a:latin typeface="Arial"/>
                <a:ea typeface="微软雅黑"/>
              </a:rPr>
              <a:t>项目罐区使用情况及改造计划</a:t>
            </a:r>
            <a:endParaRPr lang="zh-CN" altLang="en-US" sz="2000" b="1" i="1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08931564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39" y="2089725"/>
            <a:ext cx="8390199" cy="295048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6379" y="1200150"/>
            <a:ext cx="1189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管路如下图，三个储罐非单独供应两栋厂房，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及管路分别供应了两栋厂房的部分设备，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无单独管路供应，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故，需做该路改造，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增加管线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储罐供应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号楼部分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zh-CN" altLang="en-US" sz="1600" i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储罐单独供应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号楼同时排空进行钝化</a:t>
            </a:r>
            <a:endParaRPr lang="en-US" altLang="zh-CN" sz="1600" i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4593" y="5241471"/>
            <a:ext cx="1681843" cy="8899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管路制作改造</a:t>
            </a:r>
            <a:endParaRPr lang="en-US" altLang="zh-CN" dirty="0" smtClean="0"/>
          </a:p>
          <a:p>
            <a:pPr algn="ctr"/>
            <a:r>
              <a:rPr lang="en-US" altLang="zh-CN" i="1" dirty="0" smtClean="0"/>
              <a:t>10d</a:t>
            </a:r>
            <a:endParaRPr lang="zh-CN" altLang="en-US" i="1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3706879" y="2089725"/>
            <a:ext cx="795846" cy="1294177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461657" y="5241471"/>
            <a:ext cx="1681843" cy="8899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软件修改验证</a:t>
            </a:r>
            <a:endParaRPr lang="en-US" altLang="zh-CN" dirty="0" smtClean="0"/>
          </a:p>
          <a:p>
            <a:pPr algn="ctr"/>
            <a:r>
              <a:rPr lang="en-US" altLang="zh-CN" i="1" dirty="0" smtClean="0"/>
              <a:t>10d</a:t>
            </a:r>
            <a:endParaRPr lang="zh-CN" altLang="en-US" i="1" dirty="0"/>
          </a:p>
        </p:txBody>
      </p:sp>
      <p:sp>
        <p:nvSpPr>
          <p:cNvPr id="15" name="右箭头 14"/>
          <p:cNvSpPr/>
          <p:nvPr/>
        </p:nvSpPr>
        <p:spPr>
          <a:xfrm>
            <a:off x="2579914" y="5568043"/>
            <a:ext cx="767443" cy="302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098721" y="5531567"/>
            <a:ext cx="5206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6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管路管路改造影响</a:t>
            </a:r>
            <a:r>
              <a:rPr lang="en-US" altLang="zh-CN" sz="16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号楼部分项目</a:t>
            </a:r>
            <a:r>
              <a:rPr lang="en-US" altLang="zh-CN" sz="1600" b="1" i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20d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490415" y="492309"/>
            <a:ext cx="43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828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1" dirty="0" smtClean="0">
                <a:solidFill>
                  <a:prstClr val="black"/>
                </a:solidFill>
                <a:latin typeface="Arial"/>
                <a:ea typeface="微软雅黑"/>
              </a:rPr>
              <a:t>DMF</a:t>
            </a:r>
            <a:r>
              <a:rPr lang="zh-CN" altLang="en-US" sz="2000" b="1" i="1" dirty="0" smtClean="0">
                <a:solidFill>
                  <a:prstClr val="black"/>
                </a:solidFill>
                <a:latin typeface="Arial"/>
                <a:ea typeface="微软雅黑"/>
              </a:rPr>
              <a:t>改造方案及影响</a:t>
            </a:r>
            <a:endParaRPr lang="zh-CN" altLang="en-US" sz="2000" b="1" i="1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3454307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16376" y="1445076"/>
            <a:ext cx="2122717" cy="930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罐区及输送管路新鲜溶剂排空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2578203" y="1751238"/>
            <a:ext cx="2106386" cy="3184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4726108" y="1445076"/>
            <a:ext cx="2372751" cy="930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配置大量碱液冲洗储罐和管路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7098859" y="1751238"/>
            <a:ext cx="1683896" cy="318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8782755" y="1445076"/>
            <a:ext cx="2271688" cy="930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纯化纯化水管路冲洗中性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右箭头 6"/>
          <p:cNvSpPr/>
          <p:nvPr/>
        </p:nvSpPr>
        <p:spPr>
          <a:xfrm rot="10800000">
            <a:off x="7029449" y="3528328"/>
            <a:ext cx="1753305" cy="3184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782754" y="3170468"/>
            <a:ext cx="2271689" cy="930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使用硝酸溶液钝化储罐和管路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82754" y="4214160"/>
            <a:ext cx="2500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储罐没有淋洗球且无法全覆盖，需要将每个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储罐充满，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涉及大量的硝酸使用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右箭头 10"/>
          <p:cNvSpPr/>
          <p:nvPr/>
        </p:nvSpPr>
        <p:spPr>
          <a:xfrm rot="5400000">
            <a:off x="9539972" y="2605765"/>
            <a:ext cx="742946" cy="3347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4794807" y="3222169"/>
            <a:ext cx="2234641" cy="930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使用纯化水冲洗中性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16376" y="3222168"/>
            <a:ext cx="2122717" cy="930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对应溶剂冲洗储罐和输送管道含水合格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2897" y="4214160"/>
            <a:ext cx="29554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根据历史经验，储罐和管路冲含水的难度较大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耗费大量的时间和新鲜溶剂，</a:t>
            </a:r>
            <a:endParaRPr lang="en-US" altLang="zh-CN" sz="12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焊接的管道可能存在低点，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有残留水的风险，对于合成阶段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CTC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树脂风险较高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右箭头 15"/>
          <p:cNvSpPr/>
          <p:nvPr/>
        </p:nvSpPr>
        <p:spPr>
          <a:xfrm rot="10800000">
            <a:off x="2578204" y="3528328"/>
            <a:ext cx="2177492" cy="308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48279" y="1106522"/>
            <a:ext cx="193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预计时间：</a:t>
            </a:r>
            <a:r>
              <a:rPr lang="en-US" altLang="zh-CN" sz="1600" i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 i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27649" y="1107851"/>
            <a:ext cx="193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预计时间：</a:t>
            </a:r>
            <a:r>
              <a:rPr lang="en-US" altLang="zh-CN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endParaRPr lang="zh-CN" altLang="en-US" sz="1600" i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110500" y="1106522"/>
            <a:ext cx="193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预计时间：</a:t>
            </a:r>
            <a:r>
              <a:rPr lang="en-US" altLang="zh-CN" sz="1600" i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 i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0991" y="2868129"/>
            <a:ext cx="233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预计时间：</a:t>
            </a:r>
            <a:r>
              <a:rPr lang="en-US" altLang="zh-CN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20d</a:t>
            </a:r>
            <a:r>
              <a:rPr lang="zh-CN" altLang="en-US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（经验）</a:t>
            </a:r>
            <a:endParaRPr lang="zh-CN" altLang="en-US" sz="1600" i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131925" y="2880347"/>
            <a:ext cx="193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预计时间：</a:t>
            </a:r>
            <a:r>
              <a:rPr lang="en-US" altLang="zh-CN" sz="1600" i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 i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086126" y="2813940"/>
            <a:ext cx="193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预计时间：</a:t>
            </a:r>
            <a:r>
              <a:rPr lang="en-US" altLang="zh-CN" sz="1600" i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i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 i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6523" y="5442518"/>
            <a:ext cx="5846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原罐区溶剂打空储存</a:t>
            </a:r>
            <a:endParaRPr lang="en-US" altLang="zh-CN" sz="16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使用大量的碱液和硝酸</a:t>
            </a:r>
            <a:r>
              <a:rPr lang="en-US" altLang="zh-CN" sz="16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7*30m³</a:t>
            </a:r>
            <a:r>
              <a:rPr lang="zh-CN" altLang="en-US" sz="16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储罐</a:t>
            </a:r>
            <a:endParaRPr lang="en-US" altLang="zh-CN" sz="1600" b="1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钝化后投用前储罐和含水冲洗的难度大，标准</a:t>
            </a:r>
            <a:r>
              <a:rPr lang="en-US" altLang="zh-CN" sz="16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0.1%w/w</a:t>
            </a:r>
          </a:p>
        </p:txBody>
      </p:sp>
      <p:sp>
        <p:nvSpPr>
          <p:cNvPr id="29" name="矩形 28"/>
          <p:cNvSpPr/>
          <p:nvPr/>
        </p:nvSpPr>
        <p:spPr>
          <a:xfrm>
            <a:off x="7613210" y="5202021"/>
            <a:ext cx="2551326" cy="978343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钝化预计耗时：</a:t>
            </a:r>
            <a:r>
              <a:rPr lang="en-US" altLang="zh-CN" b="1" dirty="0" smtClean="0">
                <a:solidFill>
                  <a:srgbClr val="FF0000"/>
                </a:solidFill>
              </a:rPr>
              <a:t>42d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490415" y="492309"/>
            <a:ext cx="43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828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1" dirty="0" smtClean="0">
                <a:solidFill>
                  <a:prstClr val="black"/>
                </a:solidFill>
                <a:latin typeface="Arial"/>
                <a:ea typeface="微软雅黑"/>
              </a:rPr>
              <a:t>钝化方案及影响</a:t>
            </a:r>
            <a:endParaRPr lang="zh-CN" altLang="en-US" sz="2000" b="1" i="1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356244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5799" y="1243977"/>
            <a:ext cx="1092381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输送管路改造，实现单独一个储罐供应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号楼进行钝化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甲叔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醚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哌啶仅一个储罐，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进行钝化，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号楼暂时使用桶装形式，二期罐区启动后连接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其他溶剂（乙腈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乙酸乙酯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正庚烷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甲苯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/2-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甲基四氢呋喃）暂停（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42d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）使用进行钝化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799" y="990061"/>
            <a:ext cx="5846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i="1" dirty="0" smtClean="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方案及改造总结</a:t>
            </a:r>
            <a:endParaRPr lang="en-US" altLang="zh-CN" sz="1600" b="1" i="1" dirty="0" smtClean="0">
              <a:solidFill>
                <a:srgbClr val="2F5A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799" y="2444306"/>
            <a:ext cx="5846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i="1" dirty="0" smtClean="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对项目的影响</a:t>
            </a:r>
            <a:endParaRPr lang="en-US" altLang="zh-CN" sz="1600" b="1" i="1" dirty="0" smtClean="0">
              <a:solidFill>
                <a:srgbClr val="2F5A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618092"/>
              </p:ext>
            </p:extLst>
          </p:nvPr>
        </p:nvGraphicFramePr>
        <p:xfrm>
          <a:off x="685799" y="2800520"/>
          <a:ext cx="5045530" cy="359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880">
                  <a:extLst>
                    <a:ext uri="{9D8B030D-6E8A-4147-A177-3AD203B41FA5}">
                      <a16:colId xmlns:a16="http://schemas.microsoft.com/office/drawing/2014/main" val="2893168246"/>
                    </a:ext>
                  </a:extLst>
                </a:gridCol>
                <a:gridCol w="1069521">
                  <a:extLst>
                    <a:ext uri="{9D8B030D-6E8A-4147-A177-3AD203B41FA5}">
                      <a16:colId xmlns:a16="http://schemas.microsoft.com/office/drawing/2014/main" val="1362888017"/>
                    </a:ext>
                  </a:extLst>
                </a:gridCol>
                <a:gridCol w="677636">
                  <a:extLst>
                    <a:ext uri="{9D8B030D-6E8A-4147-A177-3AD203B41FA5}">
                      <a16:colId xmlns:a16="http://schemas.microsoft.com/office/drawing/2014/main" val="2325953910"/>
                    </a:ext>
                  </a:extLst>
                </a:gridCol>
                <a:gridCol w="1396093">
                  <a:extLst>
                    <a:ext uri="{9D8B030D-6E8A-4147-A177-3AD203B41FA5}">
                      <a16:colId xmlns:a16="http://schemas.microsoft.com/office/drawing/2014/main" val="85920437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30286325"/>
                    </a:ext>
                  </a:extLst>
                </a:gridCol>
              </a:tblGrid>
              <a:tr h="2925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厂房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项目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客户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步骤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影响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455355"/>
                  </a:ext>
                </a:extLst>
              </a:tr>
              <a:tr h="29254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139166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Roche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</a:p>
                  </a:txBody>
                  <a:tcPr marL="6350" marR="6350" marT="6350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延后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启动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3333265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150168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800758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148235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Pfizer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13634"/>
                  </a:ext>
                </a:extLst>
              </a:tr>
              <a:tr h="29254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140019</a:t>
                      </a:r>
                    </a:p>
                  </a:txBody>
                  <a:tcPr marL="6350" marR="6350" marT="6350" marB="0" anchor="ctr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PPQstep1</a:t>
                      </a:r>
                    </a:p>
                  </a:txBody>
                  <a:tcPr marL="6350" marR="6350" marT="6350" marB="0" anchor="ctr"/>
                </a:tc>
                <a:tc rowSpan="8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延后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启动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2162201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140020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PPQstep1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521734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140021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PPQstep1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927912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139788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PPQstep1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876685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139788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full scale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demo step3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835267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149744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AbbVie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496632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136877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step1C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69942"/>
                  </a:ext>
                </a:extLst>
              </a:tr>
              <a:tr h="292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142316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Vertex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754727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147706" y="2444306"/>
            <a:ext cx="5846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i="1" dirty="0" smtClean="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对操作的影响，重点管控方面</a:t>
            </a:r>
            <a:endParaRPr lang="en-US" altLang="zh-CN" sz="1600" b="1" i="1" dirty="0" smtClean="0">
              <a:solidFill>
                <a:srgbClr val="2F5A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61481" y="3377047"/>
            <a:ext cx="4657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钝化期间，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号楼整体不能使用罐区，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200L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溶剂周转的安全风险需要重点管控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所有溶剂均为桶装，小型合成仪的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DMF/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脱保护溶液需要手动配置，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效率有所降低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制备项目涉及自动补液功能无法使用，需要现场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人工判断液位进行手动补加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，风险管控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041973" y="492309"/>
            <a:ext cx="1753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828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1" dirty="0" smtClean="0">
                <a:solidFill>
                  <a:prstClr val="black"/>
                </a:solidFill>
                <a:latin typeface="Arial"/>
                <a:ea typeface="微软雅黑"/>
              </a:rPr>
              <a:t>整体影响汇总</a:t>
            </a:r>
            <a:endParaRPr lang="zh-CN" altLang="en-US" sz="2000" b="1" i="1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9038799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342900" indent="-342900">
          <a:buFont typeface="Wingdings" panose="05000000000000000000" pitchFamily="2" charset="2"/>
          <a:buChar char="Ø"/>
          <a:defRPr sz="20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690</Words>
  <Application>Microsoft Office PowerPoint</Application>
  <PresentationFormat>宽屏</PresentationFormat>
  <Paragraphs>138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Wingdings</vt:lpstr>
      <vt:lpstr>Office 主题​​</vt:lpstr>
      <vt:lpstr>webwppDefTheme</vt:lpstr>
      <vt:lpstr>1_webwppDefTheme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Qiuyan Chen</dc:creator>
  <cp:lastModifiedBy>Ruijun Shi</cp:lastModifiedBy>
  <cp:revision>89</cp:revision>
  <dcterms:created xsi:type="dcterms:W3CDTF">2026-06-02T13:16:01Z</dcterms:created>
  <dcterms:modified xsi:type="dcterms:W3CDTF">2026-09-18T01:45:58Z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2052-11.8.2.10440</vt:lpwstr>
  </property>
</Properties>
</file>