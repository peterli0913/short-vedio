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3" r:id="rId3"/>
  </p:sldMasterIdLst>
  <p:notesMasterIdLst>
    <p:notesMasterId r:id="rId6"/>
  </p:notesMasterIdLst>
  <p:handoutMasterIdLst>
    <p:handoutMasterId r:id="rId7"/>
  </p:handoutMasterIdLst>
  <p:sldIdLst>
    <p:sldId id="1205" r:id="rId4"/>
    <p:sldId id="121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>
          <p15:clr>
            <a:srgbClr val="A4A3A4"/>
          </p15:clr>
        </p15:guide>
        <p15:guide id="2" pos="386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3" clrIdx="0"/>
  <p:cmAuthor id="2" name="作者" initials="A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A9E"/>
    <a:srgbClr val="2E75B6"/>
    <a:srgbClr val="0000FF"/>
    <a:srgbClr val="4A66B1"/>
    <a:srgbClr val="EAEFF7"/>
    <a:srgbClr val="D2DEEF"/>
    <a:srgbClr val="E9EAF1"/>
    <a:srgbClr val="D0D3E3"/>
    <a:srgbClr val="D4E5F7"/>
    <a:srgbClr val="ACC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2233" autoAdjust="0"/>
  </p:normalViewPr>
  <p:slideViewPr>
    <p:cSldViewPr snapToGrid="0">
      <p:cViewPr varScale="1">
        <p:scale>
          <a:sx n="127" d="100"/>
          <a:sy n="127" d="100"/>
        </p:scale>
        <p:origin x="500" y="92"/>
      </p:cViewPr>
      <p:guideLst>
        <p:guide orient="horz" pos="231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73DE6-786A-4A72-B78D-83AA17E615B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44BEE-D1C4-4570-B094-729A47EA0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CDC9A-6984-4BA9-A7C2-63B67279B178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74AF-E535-49E6-9134-4F99EB81E7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5085" y="1317625"/>
            <a:ext cx="4288155" cy="85502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upload_post_object_v2_6728974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51" y="3182317"/>
            <a:ext cx="6011483" cy="231943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72333"/>
              </p:ext>
            </p:extLst>
          </p:nvPr>
        </p:nvGraphicFramePr>
        <p:xfrm>
          <a:off x="592149" y="965106"/>
          <a:ext cx="11239785" cy="2237306"/>
        </p:xfrm>
        <a:graphic>
          <a:graphicData uri="http://schemas.openxmlformats.org/drawingml/2006/table">
            <a:tbl>
              <a:tblPr/>
              <a:tblGrid>
                <a:gridCol w="129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0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0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07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76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02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76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 </a:t>
                      </a:r>
                      <a:r>
                        <a:rPr lang="zh-CN" alt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项目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涉及罐区溶剂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Tank No.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en-US" altLang="zh-CN" sz="105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L2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L3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GG917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Planned use time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Tank number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Tank volume</a:t>
                      </a:r>
                      <a:r>
                        <a:rPr lang="zh-CN" alt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m³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DMF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TF01,TF02,TF04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哌啶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TF30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甲叔醚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TF05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乙酸异丙酯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TF03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step1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TF06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1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制备乙腈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号楼公用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TF07,TF08,TF10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step3</a:t>
                      </a:r>
                      <a:endParaRPr lang="zh-CN" alt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Step1</a:t>
                      </a:r>
                    </a:p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1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正庚烷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TF11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</a:p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step3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乙酸乙酯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TF12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step2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6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2-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甲基四氢呋喃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lilly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专用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TF13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step3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1" dirty="0" smtClean="0">
                <a:solidFill>
                  <a:prstClr val="black"/>
                </a:solidFill>
                <a:latin typeface="Arial" panose="020B0604020202020204"/>
                <a:ea typeface="微软雅黑"/>
              </a:rPr>
              <a:t>Lilly</a:t>
            </a:r>
            <a:r>
              <a:rPr lang="zh-CN" altLang="en-US" sz="2000" b="1" i="1" dirty="0" smtClean="0">
                <a:solidFill>
                  <a:prstClr val="black"/>
                </a:solidFill>
                <a:latin typeface="Arial" panose="020B0604020202020204"/>
                <a:ea typeface="微软雅黑"/>
              </a:rPr>
              <a:t>项目罐区使用情况及改造计划</a:t>
            </a:r>
            <a:endParaRPr lang="zh-CN" altLang="en-US" sz="2000" b="1" i="1" dirty="0">
              <a:solidFill>
                <a:prstClr val="black"/>
              </a:solidFill>
              <a:latin typeface="Arial" panose="020B0604020202020204"/>
              <a:ea typeface="微软雅黑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102" y="3529514"/>
            <a:ext cx="5028342" cy="27255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绿色底纹部分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(TF03,TF06,TF11,TF12,TF13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，只有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项目使用，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可排空进行钝化（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5*30m³</a:t>
            </a:r>
            <a:r>
              <a:rPr lang="zh-CN" altLang="en-US" sz="1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蓝色底纹部分，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TJ4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厂区共用；为降低其他商业化项目影响，蓝色底纹部分，只有一个储罐的溶剂储罐（哌啶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TF30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，甲基叔丁基醚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TF05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），不做钝化处理，对于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项目而言，只能使用桶装溶剂，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由此带来的安全风险增加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蓝色底纹的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和乙腈储罐，分别有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个储罐；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对于乙腈而言，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罐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TF08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专门供应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号楼，对储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罐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TF08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及其管线进行钝化，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号楼所有涉及乙腈的项目均受影响停产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LAARA API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的注册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批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，以及其他验证项目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而言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储罐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分别对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号楼的部分设备进行供应，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作为其备用储罐。对于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四个项目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储罐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TF04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进行钝化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，做一根管路供应厂房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号楼所有涉及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的项目均受影响停产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6726" y="5187387"/>
            <a:ext cx="5794093" cy="12618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罐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区至厂房输送管线设计阶段，为焊接制作，无断开，无坡度，在钝化过程中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死角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低点的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酸残留，水残留风险较高；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钝化后，仅有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单个储罐供应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Lilly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使用，日使用量约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33mt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，罐区有效溶剂约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23mt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，没有备用储罐，有供应上的风险；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钝化改造后，所有区域的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DMF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使用点，均无备用储罐。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6118822" y="1447429"/>
            <a:ext cx="49332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、单批储罐处理周期是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processing cycle for a single batch of storage tanks is 75 days.</a:t>
            </a:r>
          </a:p>
          <a:p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、因厂区硝酸用量不足，需重新申购，所以分批进行储罐钝化工作。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Due to insufficient nitric acid usage in the factory area, a new purchase is required, so the tank passivation work will be carried out in batches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、碱洗是处理管道残留油污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Rinsing with alkaline solution is used to remove residual oil stains from the pipes.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、储罐钝化方式是人员入罐喷洒钝化液至检测合格。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tank passivation method is to have personnel enter the tank and spray the passivation solution until it is qualified upon inspection.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、管路钝化方式是钝化液侵泡至检测合格。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pipeline passivation method is to immerse it in the passivation solution until it passes the inspection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137154" y="6064077"/>
            <a:ext cx="2551326" cy="53287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单批钝化预计耗时：</a:t>
            </a:r>
            <a:r>
              <a:rPr lang="en-US" altLang="zh-CN" b="1" dirty="0" smtClean="0">
                <a:solidFill>
                  <a:srgbClr val="FF0000"/>
                </a:solidFill>
              </a:rPr>
              <a:t>75d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钝化方案及影响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" y="1441277"/>
            <a:ext cx="5448300" cy="4622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792224" y="1041167"/>
            <a:ext cx="3785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钝化流程及耗时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0878076" y="5557730"/>
          <a:ext cx="1313924" cy="10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包装程序外壳对象" showAsIcon="1" r:id="rId4" imgW="996924" imgH="520792" progId="Package">
                  <p:embed/>
                </p:oleObj>
              </mc:Choice>
              <mc:Fallback>
                <p:oleObj name="包装程序外壳对象" showAsIcon="1" r:id="rId4" imgW="996924" imgH="520792" progId="Package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78076" y="5557730"/>
                        <a:ext cx="1313924" cy="1061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4423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42900" indent="-342900">
          <a:buFont typeface="Wingdings" panose="05000000000000000000" pitchFamily="2" charset="2"/>
          <a:buChar char="Ø"/>
          <a:defRPr sz="20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641</Words>
  <Application>Microsoft Office PowerPoint</Application>
  <PresentationFormat>宽屏</PresentationFormat>
  <Paragraphs>106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Wingdings</vt:lpstr>
      <vt:lpstr>Office 主题​​</vt:lpstr>
      <vt:lpstr>webwppDefTheme</vt:lpstr>
      <vt:lpstr>1_webwppDefTheme</vt:lpstr>
      <vt:lpstr>包装程序外壳对象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Qiuyan Chen</dc:creator>
  <cp:lastModifiedBy>Ruijun Shi</cp:lastModifiedBy>
  <cp:revision>2</cp:revision>
  <dcterms:created xsi:type="dcterms:W3CDTF">2026-09-18T06:13:06Z</dcterms:created>
  <dcterms:modified xsi:type="dcterms:W3CDTF">2026-09-18T06:35:47Z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