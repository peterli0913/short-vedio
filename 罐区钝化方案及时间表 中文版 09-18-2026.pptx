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0" r:id="rId2"/>
    <p:sldMasterId id="2147483672" r:id="rId3"/>
    <p:sldMasterId id="2147483684" r:id="rId4"/>
    <p:sldMasterId id="2147483695" r:id="rId5"/>
    <p:sldMasterId id="2147483707" r:id="rId6"/>
    <p:sldMasterId id="2147483718" r:id="rId7"/>
    <p:sldMasterId id="2147483729" r:id="rId8"/>
    <p:sldMasterId id="2147483740" r:id="rId9"/>
    <p:sldMasterId id="2147483752" r:id="rId10"/>
    <p:sldMasterId id="2147483763" r:id="rId11"/>
    <p:sldMasterId id="2147483775" r:id="rId12"/>
    <p:sldMasterId id="2147483786" r:id="rId13"/>
    <p:sldMasterId id="2147483798" r:id="rId14"/>
    <p:sldMasterId id="2147483810" r:id="rId15"/>
    <p:sldMasterId id="2147483821" r:id="rId16"/>
    <p:sldMasterId id="2147483832" r:id="rId17"/>
    <p:sldMasterId id="2147483843" r:id="rId18"/>
    <p:sldMasterId id="2147483855" r:id="rId19"/>
    <p:sldMasterId id="2147483867" r:id="rId20"/>
    <p:sldMasterId id="2147483879" r:id="rId21"/>
    <p:sldMasterId id="2147483891" r:id="rId22"/>
    <p:sldMasterId id="2147483903" r:id="rId23"/>
    <p:sldMasterId id="2147483914" r:id="rId24"/>
    <p:sldMasterId id="2147483926" r:id="rId25"/>
  </p:sldMasterIdLst>
  <p:notesMasterIdLst>
    <p:notesMasterId r:id="rId28"/>
  </p:notesMasterIdLst>
  <p:sldIdLst>
    <p:sldId id="716" r:id="rId26"/>
    <p:sldId id="717" r:id="rId27"/>
    <p:sldId id="71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683">
          <p15:clr>
            <a:srgbClr val="A4A3A4"/>
          </p15:clr>
        </p15:guide>
        <p15:guide id="4" pos="3613">
          <p15:clr>
            <a:srgbClr val="A4A3A4"/>
          </p15:clr>
        </p15:guide>
        <p15:guide id="5" pos="4316">
          <p15:clr>
            <a:srgbClr val="A4A3A4"/>
          </p15:clr>
        </p15:guide>
        <p15:guide id="6" pos="5155">
          <p15:clr>
            <a:srgbClr val="A4A3A4"/>
          </p15:clr>
        </p15:guide>
        <p15:guide id="7" pos="5564">
          <p15:clr>
            <a:srgbClr val="A4A3A4"/>
          </p15:clr>
        </p15:guide>
        <p15:guide id="8" pos="6131">
          <p15:clr>
            <a:srgbClr val="A4A3A4"/>
          </p15:clr>
        </p15:guide>
        <p15:guide id="9" pos="67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CE4D6"/>
    <a:srgbClr val="EAEFF7"/>
    <a:srgbClr val="D2DEEF"/>
    <a:srgbClr val="00B050"/>
    <a:srgbClr val="C5E0B4"/>
    <a:srgbClr val="000000"/>
    <a:srgbClr val="CCFFCC"/>
    <a:srgbClr val="CCFF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26" autoAdjust="0"/>
    <p:restoredTop sz="94713" autoAdjust="0"/>
  </p:normalViewPr>
  <p:slideViewPr>
    <p:cSldViewPr snapToGrid="0">
      <p:cViewPr varScale="1">
        <p:scale>
          <a:sx n="64" d="100"/>
          <a:sy n="64" d="100"/>
        </p:scale>
        <p:origin x="1056" y="52"/>
      </p:cViewPr>
      <p:guideLst>
        <p:guide orient="horz" pos="2160"/>
        <p:guide pos="3840"/>
        <p:guide pos="2683"/>
        <p:guide pos="3613"/>
        <p:guide pos="4316"/>
        <p:guide pos="5155"/>
        <p:guide pos="5564"/>
        <p:guide pos="6131"/>
        <p:guide pos="67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EE7A1-3875-437A-B05D-B2863332313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B997C-3976-4E82-889B-21F328EE58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jpe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e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jpe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jpe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jpe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jpe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jpe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jpe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jpe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.jpe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.jpe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.jpe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.jpe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.jpe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.jpe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1.jpe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2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1.jpe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2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1.jpe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1.jpeg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2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1.jpe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jpe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6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6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7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7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7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8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7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7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8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‹#›</a:t>
            </a:fld>
            <a:r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F5A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7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t>‹#›</a:t>
            </a:fld>
            <a:r>
              <a:rPr lang="en-US" altLang="zh-CN"/>
              <a:t>-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2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5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5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600" b="1" i="0" u="none" strike="noStrike" cap="none" spc="0" normalizeH="0" baseline="0" noProof="1">
              <a:ln>
                <a:noFill/>
              </a:ln>
              <a:solidFill>
                <a:srgbClr val="FFFFFF"/>
              </a:solidFill>
              <a:effectLst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6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6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6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1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1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2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4" y="6596118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3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7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7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2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2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545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457200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3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2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5" y="6596119"/>
            <a:ext cx="732473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 smtClean="0">
                <a:solidFill>
                  <a:prstClr val="white"/>
                </a:solidFill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</a:rPr>
              <a:t>‹#›</a:t>
            </a:fld>
            <a:r>
              <a:rPr lang="en-US" altLang="zh-CN" smtClean="0">
                <a:solidFill>
                  <a:prstClr val="white"/>
                </a:solidFill>
              </a:rPr>
              <a:t>-</a:t>
            </a: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21044" y="6576881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5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3" y="655002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8"/>
            <a:ext cx="12192000" cy="284693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8"/>
            <a:ext cx="831056" cy="28469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0" tIns="19050" rIns="19050" bIns="19050" numCol="1" spcCol="38100" rtlCol="0" anchor="ctr" forceAA="0">
            <a:spAutoFit/>
          </a:bodyPr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5" y="304169"/>
            <a:ext cx="2648903" cy="52641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4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4.xml"/><Relationship Id="rId11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5.xml"/><Relationship Id="rId1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16.xml"/><Relationship Id="rId1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8.xml"/><Relationship Id="rId11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8.xml"/><Relationship Id="rId11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slideLayout" Target="../slideLayouts/slideLayout170.xml"/><Relationship Id="rId3" Type="http://schemas.openxmlformats.org/officeDocument/2006/relationships/slideLayout" Target="../slideLayouts/slideLayout171.xml"/><Relationship Id="rId4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73.xml"/><Relationship Id="rId6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75.xml"/><Relationship Id="rId8" Type="http://schemas.openxmlformats.org/officeDocument/2006/relationships/slideLayout" Target="../slideLayouts/slideLayout176.xml"/><Relationship Id="rId9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8.xml"/><Relationship Id="rId11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0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10.xml"/><Relationship Id="rId11" Type="http://schemas.openxmlformats.org/officeDocument/2006/relationships/slideLayout" Target="../slideLayouts/slideLayout211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9.xml"/><Relationship Id="rId9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21.xml"/><Relationship Id="rId11" Type="http://schemas.openxmlformats.org/officeDocument/2006/relationships/slideLayout" Target="../slideLayouts/slideLayout222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30.xml"/><Relationship Id="rId9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2.xml"/><Relationship Id="rId11" Type="http://schemas.openxmlformats.org/officeDocument/2006/relationships/slideLayout" Target="../slideLayouts/slideLayout233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41.xml"/><Relationship Id="rId9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3.xml"/><Relationship Id="rId11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4.xml"/><Relationship Id="rId2" Type="http://schemas.openxmlformats.org/officeDocument/2006/relationships/slideLayout" Target="../slideLayouts/slideLayout245.xml"/><Relationship Id="rId3" Type="http://schemas.openxmlformats.org/officeDocument/2006/relationships/slideLayout" Target="../slideLayouts/slideLayout246.xml"/><Relationship Id="rId4" Type="http://schemas.openxmlformats.org/officeDocument/2006/relationships/slideLayout" Target="../slideLayouts/slideLayout247.xml"/><Relationship Id="rId5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49.xml"/><Relationship Id="rId7" Type="http://schemas.openxmlformats.org/officeDocument/2006/relationships/slideLayout" Target="../slideLayouts/slideLayout250.xml"/><Relationship Id="rId8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4.xml"/><Relationship Id="rId12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5.xml"/><Relationship Id="rId2" Type="http://schemas.openxmlformats.org/officeDocument/2006/relationships/slideLayout" Target="../slideLayouts/slideLayout256.xml"/><Relationship Id="rId3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9.xml"/><Relationship Id="rId6" Type="http://schemas.openxmlformats.org/officeDocument/2006/relationships/slideLayout" Target="../slideLayouts/slideLayout260.xml"/><Relationship Id="rId7" Type="http://schemas.openxmlformats.org/officeDocument/2006/relationships/slideLayout" Target="../slideLayouts/slideLayout261.xml"/><Relationship Id="rId8" Type="http://schemas.openxmlformats.org/officeDocument/2006/relationships/slideLayout" Target="../slideLayouts/slideLayout262.xml"/><Relationship Id="rId9" Type="http://schemas.openxmlformats.org/officeDocument/2006/relationships/slideLayout" Target="../slideLayouts/slideLayout263.xml"/><Relationship Id="rId10" Type="http://schemas.openxmlformats.org/officeDocument/2006/relationships/slideLayout" Target="../slideLayouts/slideLayout264.xml"/><Relationship Id="rId11" Type="http://schemas.openxmlformats.org/officeDocument/2006/relationships/slideLayout" Target="../slideLayouts/slideLayout265.xml"/><Relationship Id="rId12" Type="http://schemas.openxmlformats.org/officeDocument/2006/relationships/theme" Target="../theme/theme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>
              <a:spcBef>
                <a:spcPct val="0"/>
              </a:spcBef>
              <a:spcAft>
                <a:spcPct val="0"/>
              </a:spcAft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 defTabSz="41275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pPr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KSO_TEMPLATE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6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7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1</a:t>
            </a:fld>
            <a:r>
              <a:rPr lang="en-US" altLang="zh-CN" smtClean="0"/>
              <a:t>-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343934" y="505934"/>
            <a:ext cx="4656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设备系列钝化时间表</a:t>
            </a:r>
            <a:r>
              <a:rPr lang="en-US" altLang="zh-CN" b="1" dirty="0" smtClean="0">
                <a:solidFill>
                  <a:srgbClr val="002060"/>
                </a:solidFill>
              </a:rPr>
              <a:t/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027589"/>
              </p:ext>
            </p:extLst>
          </p:nvPr>
        </p:nvGraphicFramePr>
        <p:xfrm>
          <a:off x="657682" y="1379481"/>
          <a:ext cx="10700590" cy="3679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768">
                  <a:extLst>
                    <a:ext uri="{9D8B030D-6E8A-4147-A177-3AD203B41FA5}">
                      <a16:colId xmlns:a16="http://schemas.microsoft.com/office/drawing/2014/main" val="702991439"/>
                    </a:ext>
                  </a:extLst>
                </a:gridCol>
                <a:gridCol w="1095829">
                  <a:extLst>
                    <a:ext uri="{9D8B030D-6E8A-4147-A177-3AD203B41FA5}">
                      <a16:colId xmlns:a16="http://schemas.microsoft.com/office/drawing/2014/main" val="970268549"/>
                    </a:ext>
                  </a:extLst>
                </a:gridCol>
                <a:gridCol w="2520034">
                  <a:extLst>
                    <a:ext uri="{9D8B030D-6E8A-4147-A177-3AD203B41FA5}">
                      <a16:colId xmlns:a16="http://schemas.microsoft.com/office/drawing/2014/main" val="158641279"/>
                    </a:ext>
                  </a:extLst>
                </a:gridCol>
                <a:gridCol w="2568620">
                  <a:extLst>
                    <a:ext uri="{9D8B030D-6E8A-4147-A177-3AD203B41FA5}">
                      <a16:colId xmlns:a16="http://schemas.microsoft.com/office/drawing/2014/main" val="2381673757"/>
                    </a:ext>
                  </a:extLst>
                </a:gridCol>
                <a:gridCol w="2321339">
                  <a:extLst>
                    <a:ext uri="{9D8B030D-6E8A-4147-A177-3AD203B41FA5}">
                      <a16:colId xmlns:a16="http://schemas.microsoft.com/office/drawing/2014/main" val="1256024133"/>
                    </a:ext>
                  </a:extLst>
                </a:gridCol>
              </a:tblGrid>
              <a:tr h="438318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步骤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钝化完成日期</a:t>
                      </a:r>
                      <a:r>
                        <a:rPr lang="en-US" altLang="zh-CN" sz="1400" baseline="0" dirty="0" smtClean="0"/>
                        <a:t/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溶剂试车完成日期</a:t>
                      </a:r>
                      <a:r>
                        <a:rPr lang="zh-CN" altLang="en-US" sz="1400" baseline="0" dirty="0" smtClean="0"/>
                        <a:t/>
                      </a:r>
                      <a:r>
                        <a:rPr lang="en-US" altLang="zh-CN" sz="1400" baseline="0" dirty="0" smtClean="0"/>
                        <a:t/>
                      </a:r>
                      <a:endParaRPr lang="en-US" altLang="zh-CN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设备可用日期</a:t>
                      </a:r>
                      <a:r>
                        <a:rPr lang="en-US" altLang="zh-CN" sz="1400" dirty="0" smtClean="0"/>
                        <a:t/>
                      </a:r>
                      <a:r>
                        <a:rPr lang="en-US" altLang="zh-CN" sz="1400" dirty="0" smtClean="0"/>
                        <a:t/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0427453"/>
                  </a:ext>
                </a:extLst>
              </a:tr>
              <a:tr h="2677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L1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140019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09/24/2026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09/25/2026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151419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591690"/>
                  </a:ext>
                </a:extLst>
              </a:tr>
              <a:tr h="26777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L2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140020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09/23/2026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6714660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048573"/>
                  </a:ext>
                </a:extLst>
              </a:tr>
              <a:tr h="2677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L3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140021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09/19/2026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09/21/2026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09/22/2026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835233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10/08/2026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6550790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10/05/2026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10/10/2026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682449"/>
                  </a:ext>
                </a:extLst>
              </a:tr>
              <a:tr h="267778"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GG917</a:t>
                      </a:r>
                    </a:p>
                    <a:p>
                      <a:pPr algn="ctr"/>
                      <a:r>
                        <a:rPr lang="en-US" altLang="zh-CN" sz="1400" dirty="0" smtClean="0"/>
                        <a:t>139788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09/21/2026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09/24/2026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smtClean="0"/>
                        <a:t>09/26/2026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738695"/>
                  </a:ext>
                </a:extLst>
              </a:tr>
              <a:tr h="418174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09/30/2026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预计 10 月中旬完成。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996541"/>
                  </a:ext>
                </a:extLst>
              </a:tr>
              <a:tr h="267778">
                <a:tc v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所有设备已完成钝化。</a:t>
                      </a:r>
                      <a:endParaRPr kumimoji="0" lang="zh-CN" altLang="en-US" sz="1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4654858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57682" y="5230128"/>
            <a:ext cx="107005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smtClean="0"/>
              <a:t>合成仪、裂解反应器、不锈钢反应釜及 AFD 主体的钝化已由设备制造商完成。</a:t>
            </a:r>
            <a:r>
              <a:rPr lang="en-US" altLang="zh-CN" sz="1600" dirty="0"/>
              <a:t/>
            </a:r>
            <a:r>
              <a:rPr lang="en-US" altLang="zh-CN" sz="1600" dirty="0" smtClean="0"/>
              <a:t/>
            </a:r>
            <a:r>
              <a:rPr lang="en-US" altLang="zh-CN" sz="1600" dirty="0"/>
              <a:t/>
            </a:r>
            <a:endParaRPr lang="en-US" altLang="zh-CN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 smtClean="0"/>
              <a:t>其余设备（储罐、管路等）将进行钝化并完成溶剂试车，时间表可满足使用需求。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6688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smtClean="0"/>
              <a:t>-</a:t>
            </a:r>
            <a:fld id="{FAEDECE0-B3E3-4E93-9B91-9F10B30F5B07}" type="slidenum">
              <a:rPr lang="en-US" altLang="zh-CN" smtClean="0"/>
              <a:t>2</a:t>
            </a:fld>
            <a:r>
              <a:rPr lang="en-US" altLang="zh-CN" smtClean="0"/>
              <a:t>-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757526" y="505934"/>
            <a:ext cx="522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2060"/>
                </a:solidFill>
              </a:rPr>
              <a:t>溶剂罐区钝化方案讨论</a:t>
            </a:r>
            <a:r>
              <a:rPr lang="en-US" altLang="zh-CN" b="1" dirty="0" smtClean="0">
                <a:solidFill>
                  <a:srgbClr val="002060"/>
                </a:solidFill>
              </a:rPr>
              <a:t/>
            </a:r>
            <a:endParaRPr lang="zh-CN" altLang="en-US" b="1" dirty="0">
              <a:solidFill>
                <a:srgbClr val="00206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024128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371600"/>
                <a:gridCol w="868680"/>
                <a:gridCol w="2606040"/>
                <a:gridCol w="822960"/>
                <a:gridCol w="3246120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溶剂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罐区供应方式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储罐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供应的 Lilly 批次 / 步骤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需求时间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钝化方案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乙酸异丙酯、甲苯、正庚烷、</a:t>
                      </a:r>
                    </a:p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乙酸乙酯、2-甲基四氢呋喃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Lilly 专用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5 ×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 – step 3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9/25 –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10/28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储罐及输送管路直接排空钝化，不影响其他厂房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制备乙腈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11/12 号楼公用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3 ×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140021 step 1、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139788 step 1 + step 3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10/15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12 号楼有单独管路，排空 1 × 30 m³ 储罐并钝化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哌啶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11/12 号楼公用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 × 10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9/25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单罐且 11 号楼仍需使用，不钝化；Lilly 项目使用桶装溶剂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甲叔醚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11/12 号楼公用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 ×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9/25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不钝化；二期罐区接入前使用桶装溶剂</a:t>
                      </a:r>
                    </a:p>
                  </a:txBody>
                  <a:tcPr anchor="ctr" marL="64008" marR="64008" marT="18288" marB="18288"/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DMF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11/12 号楼公用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3 × 30 m³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140019 / 140020 / 140021 / 139788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9/25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需先完成管路改造 — 目前无储罐可停用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9502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50" b="1">
                <a:solidFill>
                  <a:srgbClr val="002060"/>
                </a:solidFill>
              </a:rPr>
              <a:t>DMF 管路改造 —— TF01 与 TF02 均同时供应 11/12 号楼，目前无储罐可停用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4407408"/>
          <a:ext cx="59893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057400"/>
                <a:gridCol w="306324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DMF 储罐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现状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200" b="0"/>
                        <a:t>改造后</a:t>
                      </a:r>
                    </a:p>
                  </a:txBody>
                  <a:tcPr anchor="ctr" marL="64008" marR="64008" marT="18288" marB="18288"/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TF01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同时供应 11/12 号楼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1"/>
                        <a:t>仅供应 12 号楼 — 排空并钝化</a:t>
                      </a:r>
                    </a:p>
                  </a:txBody>
                  <a:tcPr anchor="ctr" marL="64008" marR="64008" marT="18288" marB="18288"/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TF04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仅作备用，无单独管路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新增至 11 号楼的管路：管路制作 10 d + 软件修改与验证 10 d</a:t>
                      </a:r>
                    </a:p>
                  </a:txBody>
                  <a:tcPr anchor="ctr" marL="64008" marR="64008" marT="18288" marB="18288"/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TF02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同时供应 11/12 号楼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50" b="0"/>
                        <a:t>不变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2280" y="4462272"/>
            <a:ext cx="481888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102000"/>
              </a:lnSpc>
              <a:spcAft>
                <a:spcPts val="1100"/>
              </a:spcAft>
              <a:buFont typeface="Wingdings" pitchFamily="2" charset="2"/>
              <a:buChar char="Ø"/>
            </a:pPr>
            <a:r>
              <a:rPr sz="1350" b="1">
                <a:solidFill>
                  <a:srgbClr val="C00000"/>
                </a:solidFill>
              </a:rPr>
              <a:t>改造接入期间需切换 11 号楼供应：139166 / 150168 / 148235 延后 20 d。</a:t>
            </a:r>
          </a:p>
          <a:p>
            <a:pPr marL="285750" indent="-285750">
              <a:lnSpc>
                <a:spcPct val="102000"/>
              </a:lnSpc>
              <a:spcAft>
                <a:spcPts val="1100"/>
              </a:spcAft>
              <a:buFont typeface="Wingdings" pitchFamily="2" charset="2"/>
              <a:buChar char="Ø"/>
            </a:pPr>
            <a:r>
              <a:rPr sz="1350" b="0">
                <a:solidFill>
                  <a:srgbClr val="404040"/>
                </a:solidFill>
              </a:rPr>
              <a:t>改造后 Lilly 合成仪仅由一个 DMF 储罐供应，无备用罐 —— 用量大，需持续补料。</a:t>
            </a:r>
          </a:p>
          <a:p>
            <a:pPr marL="285750" indent="-285750">
              <a:lnSpc>
                <a:spcPct val="102000"/>
              </a:lnSpc>
              <a:spcAft>
                <a:spcPts val="1100"/>
              </a:spcAft>
              <a:buFont typeface="Wingdings" pitchFamily="2" charset="2"/>
              <a:buChar char="Ø"/>
            </a:pPr>
            <a:r>
              <a:rPr sz="1350" b="0">
                <a:solidFill>
                  <a:srgbClr val="404040"/>
                </a:solidFill>
              </a:rPr>
              <a:t>哌啶与甲叔醚在二期罐区启用前，12 号楼继续使用 200 L 桶装溶剂。</a:t>
            </a:r>
          </a:p>
        </p:txBody>
      </p:sp>
    </p:spTree>
    <p:extLst>
      <p:ext uri="{BB962C8B-B14F-4D97-AF65-F5344CB8AC3E}">
        <p14:creationId xmlns:p14="http://schemas.microsoft.com/office/powerpoint/2010/main" val="129288558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0056" y="502920"/>
            <a:ext cx="6949440" cy="365760"/>
          </a:xfrm>
          <a:prstGeom prst="rect">
            <a:avLst/>
          </a:prstGeom>
          <a:noFill/>
        </p:spPr>
        <p:txBody>
          <a:bodyPr wrap="none" rIns="0">
            <a:spAutoFit/>
          </a:bodyPr>
          <a:lstStyle/>
          <a:p>
            <a:pPr algn="r"/>
            <a:r>
              <a:rPr sz="1800" b="1">
                <a:solidFill>
                  <a:srgbClr val="002060"/>
                </a:solidFill>
              </a:rPr>
              <a:t>钝化流程、耗时及项目影响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2060"/>
                </a:solidFill>
              </a:rPr>
              <a:t>钝化流程 —— 单批储罐 75 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34440"/>
          <a:ext cx="4983479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749039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00" b="0"/>
                        <a:t>序号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00" b="0"/>
                        <a:t>项目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100" b="0"/>
                        <a:t>用时（天）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储罐物料清空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预处理储罐：水洗、检测罐内可燃气体浓度合格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4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加碱液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4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冲洗至中性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10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5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储罐钝化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7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6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进出管道钝化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7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钝化介质清罐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8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管道探伤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9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自来水冲洗至 pH 中性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10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10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储罐清洁确认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2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11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溶剂含水测定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30</a:t>
                      </a:r>
                    </a:p>
                  </a:txBody>
                  <a:tcPr anchor="ctr" marL="64008" marR="64008" marT="18288" marB="18288"/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/>
                        <a:t/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/>
                        <a:t>合计（单批）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1"/>
                        <a:t>75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5902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2060"/>
                </a:solidFill>
              </a:rPr>
              <a:t>对项目的影响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4892040"/>
          <a:ext cx="498348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971800"/>
                <a:gridCol w="1325880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厂房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受影响项目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50" b="0"/>
                        <a:t>影响</a:t>
                      </a:r>
                    </a:p>
                  </a:txBody>
                  <a:tcPr anchor="ctr" marL="64008" marR="64008"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11 号楼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139166（Roche）、150168、148235（Pfizer）— 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/>
                        <a:t>延后 20 d 启动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DMF 管路切换</a:t>
                      </a:r>
                    </a:p>
                  </a:txBody>
                  <a:tcPr anchor="ctr" marL="64008" marR="64008" marT="18288" marB="18288"/>
                </a:tc>
              </a:tr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12 号楼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140019 / 140020 / 140021 / 139788 PPQ step 1；139788 full scale demo step 3；</a:t>
                      </a:r>
                    </a:p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149744（AbbVie）、136877（Lilly）step 1C、142316（Vertex）step 1</a:t>
                      </a:r>
                    </a:p>
                  </a:txBody>
                  <a:tcPr anchor="ctr" marL="64008" marR="64008" marT="18288" marB="18288"/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1"/>
                        <a:t>延后 75 d 启动</a:t>
                      </a:r>
                    </a:p>
                    <a:p>
                      <a:pPr algn="ct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1000" b="0"/>
                        <a:t>罐区停用</a:t>
                      </a:r>
                    </a:p>
                  </a:txBody>
                  <a:tcPr anchor="ctr" marL="64008" marR="64008" marT="18288" marB="18288"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806440" y="932688"/>
            <a:ext cx="5824728" cy="5486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</a:rPr>
              <a:t>7 个储罐分 2 批钝化 —— 单批 75 天，最后一批约在第 85 天完成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73736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2060"/>
                </a:solidFill>
              </a:rPr>
              <a:t>第一批 · 2 个储罐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700784"/>
            <a:ext cx="3311203" cy="274320"/>
          </a:xfrm>
          <a:prstGeom prst="roundRect">
            <a:avLst>
              <a:gd name="adj" fmla="val 25000"/>
            </a:avLst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第 1 – 76 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1579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002060"/>
                </a:solidFill>
              </a:rPr>
              <a:t>第二批 · 5 个储罐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5933" y="2121408"/>
            <a:ext cx="3224066" cy="274320"/>
          </a:xfrm>
          <a:prstGeom prst="roundRect">
            <a:avLst>
              <a:gd name="adj" fmla="val 25000"/>
            </a:avLst>
          </a:prstGeom>
          <a:solidFill>
            <a:srgbClr val="2E6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第 12 – 85 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2560320"/>
            <a:ext cx="3703320" cy="10972"/>
          </a:xfrm>
          <a:prstGeom prst="rect">
            <a:avLst/>
          </a:prstGeom>
          <a:solidFill>
            <a:srgbClr val="D3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25968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</a:rPr>
              <a:t>第 1 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596896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04040"/>
                </a:solidFill>
              </a:rPr>
              <a:t>第 85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889504"/>
            <a:ext cx="58247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404040"/>
                </a:solidFill>
              </a:rPr>
              <a:t>厂区硝酸用量不足、需重新申购，因此 7 个储罐分两批进行钝化。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346704"/>
            <a:ext cx="5824728" cy="2999232"/>
          </a:xfrm>
          <a:prstGeom prst="roundRect">
            <a:avLst>
              <a:gd name="adj" fmla="val 3500"/>
            </a:avLst>
          </a:prstGeom>
          <a:solidFill>
            <a:srgbClr val="F4F8FC"/>
          </a:solidFill>
          <a:ln w="9525">
            <a:solidFill>
              <a:srgbClr val="D3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16752" y="3493008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2060"/>
                </a:solidFill>
              </a:rPr>
              <a:t>为什么单批需要 75 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3803904"/>
            <a:ext cx="539496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98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1150" b="0">
                <a:solidFill>
                  <a:srgbClr val="404040"/>
                </a:solidFill>
              </a:rPr>
              <a:t>储罐无淋洗球：需人员入罐喷洒钝化液至检测合格；管路采用钝化液浸泡至检测合格。</a:t>
            </a:r>
          </a:p>
          <a:p>
            <a:pPr marL="285750" indent="-285750">
              <a:lnSpc>
                <a:spcPct val="98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1150" b="0">
                <a:solidFill>
                  <a:srgbClr val="404040"/>
                </a:solidFill>
              </a:rPr>
              <a:t>碱洗用于去除管道内残留油污；每次冲洗至中性需 10 天。</a:t>
            </a:r>
          </a:p>
          <a:p>
            <a:pPr marL="285750" indent="-285750">
              <a:lnSpc>
                <a:spcPct val="98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1150" b="1">
                <a:solidFill>
                  <a:srgbClr val="C00000"/>
                </a:solidFill>
              </a:rPr>
              <a:t>溶剂含水测定为关键路径，需 30 天 —— 焊接管道存在低点易残留水，含水 ≤ 0.1 % w/w 的标准较难达到，对 step 1 的 CTC 树脂风险高。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5248656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2060"/>
                </a:solidFill>
              </a:rPr>
              <a:t>钝化期间的操作影响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5541264"/>
            <a:ext cx="5394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lnSpc>
                <a:spcPct val="98000"/>
              </a:lnSpc>
              <a:spcAft>
                <a:spcPts val="400"/>
              </a:spcAft>
              <a:buFont typeface="Wingdings" pitchFamily="2" charset="2"/>
              <a:buChar char="Ø"/>
            </a:pPr>
            <a:r>
              <a:rPr sz="1050" b="0">
                <a:solidFill>
                  <a:srgbClr val="404040"/>
                </a:solidFill>
              </a:rPr>
              <a:t>12 号楼无法使用罐区 —— 所有溶剂改为 200 L 桶装，桶装周转的安全风险为重点管控项。</a:t>
            </a:r>
          </a:p>
          <a:p>
            <a:pPr marL="285750" indent="-285750">
              <a:lnSpc>
                <a:spcPct val="98000"/>
              </a:lnSpc>
              <a:spcAft>
                <a:spcPts val="400"/>
              </a:spcAft>
              <a:buFont typeface="Wingdings" pitchFamily="2" charset="2"/>
              <a:buChar char="Ø"/>
            </a:pPr>
            <a:r>
              <a:rPr sz="1050" b="0">
                <a:solidFill>
                  <a:srgbClr val="404040"/>
                </a:solidFill>
              </a:rPr>
              <a:t>小型合成仪的 DMF 与脱保护溶液需人工配置，效率下降。</a:t>
            </a:r>
          </a:p>
          <a:p>
            <a:pPr marL="285750" indent="-285750">
              <a:lnSpc>
                <a:spcPct val="98000"/>
              </a:lnSpc>
              <a:spcAft>
                <a:spcPts val="400"/>
              </a:spcAft>
              <a:buFont typeface="Wingdings" pitchFamily="2" charset="2"/>
              <a:buChar char="Ø"/>
            </a:pPr>
            <a:r>
              <a:rPr sz="1050" b="0">
                <a:solidFill>
                  <a:srgbClr val="404040"/>
                </a:solidFill>
              </a:rPr>
              <a:t>自动补液功能不可用 —— 需人工判断液位并手动补加。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FF0000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1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2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3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4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5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9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0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6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7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2902</TotalTime>
  <Words>134</Words>
  <Application>Microsoft Office PowerPoint</Application>
  <PresentationFormat>宽屏</PresentationFormat>
  <Paragraphs>55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25</vt:i4>
      </vt:variant>
      <vt:variant>
        <vt:lpstr>幻灯片标题</vt:lpstr>
      </vt:variant>
      <vt:variant>
        <vt:i4>2</vt:i4>
      </vt:variant>
    </vt:vector>
  </HeadingPairs>
  <TitlesOfParts>
    <vt:vector size="33" baseType="lpstr">
      <vt:lpstr>Helvetica Light</vt:lpstr>
      <vt:lpstr>等线</vt:lpstr>
      <vt:lpstr>微软雅黑</vt:lpstr>
      <vt:lpstr>Arial</vt:lpstr>
      <vt:lpstr>Calibri</vt:lpstr>
      <vt:lpstr>Wingdings</vt:lpstr>
      <vt:lpstr>1_webwppDefTheme</vt:lpstr>
      <vt:lpstr>2_webwppDefTheme</vt:lpstr>
      <vt:lpstr>webwppDefTheme</vt:lpstr>
      <vt:lpstr>3_webwppDefTheme</vt:lpstr>
      <vt:lpstr>4_webwppDefTheme</vt:lpstr>
      <vt:lpstr>5_webwppDefTheme</vt:lpstr>
      <vt:lpstr>6_webwppDefTheme</vt:lpstr>
      <vt:lpstr>7_webwppDefTheme</vt:lpstr>
      <vt:lpstr>9_webwppDefTheme</vt:lpstr>
      <vt:lpstr>8_webwppDefTheme</vt:lpstr>
      <vt:lpstr>16_webwppDefTheme</vt:lpstr>
      <vt:lpstr>22_webwppDefTheme</vt:lpstr>
      <vt:lpstr>10_webwppDefTheme</vt:lpstr>
      <vt:lpstr>11_webwppDefTheme</vt:lpstr>
      <vt:lpstr>12_webwppDefTheme</vt:lpstr>
      <vt:lpstr>13_webwppDefTheme</vt:lpstr>
      <vt:lpstr>14_webwppDefTheme</vt:lpstr>
      <vt:lpstr>15_webwppDefTheme</vt:lpstr>
      <vt:lpstr>17_webwppDefTheme</vt:lpstr>
      <vt:lpstr>25_webwppDefTheme</vt:lpstr>
      <vt:lpstr>18_webwppDefTheme</vt:lpstr>
      <vt:lpstr>19_webwppDefTheme</vt:lpstr>
      <vt:lpstr>20_webwppDefTheme</vt:lpstr>
      <vt:lpstr>26_webwppDefTheme</vt:lpstr>
      <vt:lpstr>27_webwppDefTheme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Cui</dc:creator>
  <cp:lastModifiedBy>Ruijun Shi</cp:lastModifiedBy>
  <cp:revision>45</cp:revision>
  <dcterms:created xsi:type="dcterms:W3CDTF">2026-09-01T01:04:30Z</dcterms:created>
  <dcterms:modified xsi:type="dcterms:W3CDTF">2026-09-18T01:14:32Z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  <property fmtid="{D5CDD505-2E9C-101B-9397-08002B2CF9AE}" pid="4" name="ContentTypeId">
    <vt:lpwstr>0x01010081E1AFC219F9024AA012AA91AE638458</vt:lpwstr>
  </property>
  <property fmtid="{D5CDD505-2E9C-101B-9397-08002B2CF9AE}" pid="5" name="MediaServiceImageTags">
    <vt:lpwstr/>
  </property>
</Properties>
</file>